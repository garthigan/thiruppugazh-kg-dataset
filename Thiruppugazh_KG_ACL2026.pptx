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0"/>
  </p:normalViewPr>
  <p:slideViewPr>
    <p:cSldViewPr snapToGrid="0" snapToObjects="1">
      <p:cViewPr varScale="1">
        <p:scale>
          <a:sx n="114" d="100"/>
          <a:sy n="114" d="100"/>
        </p:scale>
        <p:origin x="28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33FD13-8813-FE48-87B5-17C17675FD78}" type="datetimeFigureOut">
              <a:rPr lang="en-LK" smtClean="0"/>
              <a:t>2026-06-10</a:t>
            </a:fld>
            <a:endParaRPr lang="en-L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EAC5A7-8278-0C40-ADFC-4FEDBC54D49F}" type="slidenum">
              <a:rPr lang="en-LK" smtClean="0"/>
              <a:t>‹#›</a:t>
            </a:fld>
            <a:endParaRPr lang="en-LK"/>
          </a:p>
        </p:txBody>
      </p:sp>
    </p:spTree>
    <p:extLst>
      <p:ext uri="{BB962C8B-B14F-4D97-AF65-F5344CB8AC3E}">
        <p14:creationId xmlns:p14="http://schemas.microsoft.com/office/powerpoint/2010/main" val="2144463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Calibri"/>
              </a:rPr>
              <a:t>Good morning / afternoon, everyone. I'm Garthigan Kumarasamy from the University of Moratuwa. Today I'll be presenting Thiruppugazh-KG — the first semantically annotated knowledge graph dataset for Tamil devotional literature.
Thiruppugazh is a 15th-century corpus of 1,335 hymns composed by the saint-poet Arunagirinathar, dedicated to Lord Murugan. It is one of the richest surviving works in classical Tamil, yet until now no machine-readable, structured resource existed for computational analysis. That gap is what this work addresses.</a:t>
            </a:r>
            <a:endParaRPr lang="en-LK" dirty="0"/>
          </a:p>
        </p:txBody>
      </p:sp>
      <p:sp>
        <p:nvSpPr>
          <p:cNvPr id="4" name="Slide Number Placeholder 3"/>
          <p:cNvSpPr>
            <a:spLocks noGrp="1"/>
          </p:cNvSpPr>
          <p:nvPr>
            <p:ph type="sldNum" sz="quarter" idx="5"/>
          </p:nvPr>
        </p:nvSpPr>
        <p:spPr/>
        <p:txBody>
          <a:bodyPr/>
          <a:lstStyle/>
          <a:p>
            <a:fld id="{EDEAC5A7-8278-0C40-ADFC-4FEDBC54D49F}" type="slidenum">
              <a:rPr lang="en-LK" smtClean="0"/>
              <a:t>1</a:t>
            </a:fld>
            <a:endParaRPr lang="en-LK"/>
          </a:p>
        </p:txBody>
      </p:sp>
    </p:spTree>
    <p:extLst>
      <p:ext uri="{BB962C8B-B14F-4D97-AF65-F5344CB8AC3E}">
        <p14:creationId xmlns:p14="http://schemas.microsoft.com/office/powerpoint/2010/main" val="229270231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Tamil is a low-resource language with very limited NLP infrastructure. Thiruppugazh is an extraordinary literary corpus — spiritually significant, linguistically complex, and historically rich — but scholars can only access it through manual, text-by-text reading. There is no way to query across all 1,335 hymns systematically.
Knowledge graphs are a natural fit here: they model entities and relationships explicitly, and they enable graph analytics such as PageRank and community detection that can surface cultural patterns invisible to manual reading. Our contribution fills this gap and creates a reusable framework for other classical texts in low-resource languages.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Let me briefly introduce the corpus. Thiruppugazh was composed by Arunagirinathar in the 15th century CE. It is dedicated to Lord Murugan — also known as Karthikeya — the central deity of Tamil Shaivism. The text is renowned for its complex chandas rhythmic structure, vivid imagery, and philosophical depth.
We sourced our data from the Kaumaram Thiruppugazh Digital Archive, which provides the original Tamil text, explanatory notes, and English interpretations for all 1,335 hymns. We then annotated six semantic categories: Entities, Themes, Mythological Events, Philosophy, Imagery, and Sacred Places.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The construction pipeline has five steps. We start from the Kaumaram digital archive, extract the Tamil hymns and accompanying notes, manually analyze each hymn, apply semantic annotation across six dimensions, and store the result as structured JSON that is directly importable into Neo4j.
The critical point is that all annotation was done by hand — every one of the 1,335 hymns was individually reviewed. We measured inter-annotator agreement using Cohen's Kappa to validate the annotation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The schema uses a hub-and-spoke design. Every Song node — representing one hymn — connects outward through six typed relationship types.
MENTIONS_ENTITY covers deities and named persons: 8,564 edges. USES_IMAGERY covers poetic symbols: 6,166 edges. HAS_THEME captures devotional concepts: 5,544 edges. HAS_PHILOSOPHY represents spiritual ideas: 4,104 edges. REFERS_TO_EVENT links to mythological stories and battles: 2,515 edges. LOCATED_AT connects each song to its associated temple location — one per song — giving exactly 1,335 edges.
Across all relationship types the graph has 28,228 typed edges in total.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The full graph has 11,992 nodes and 28,228 edges, with an average node degree of 4.70. All 1,335 hymns are annotated — that is 100% corpus coverage.
The 10,657 semantic nodes span the six non-song types. We also ran Louvain community detection and found 9,758 distinct communities, suggesting rich thematic sub-structure in the graph. Song nodes are the most numerous single type at 1,335; Entity nodes are the largest semantic category at approximately 4,200.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This is the full Thiruppugazh-KG visualized in Neo4j Graph Data Science. Each color represents a different node type — cyan for songs, red for entities, pink for imagery, orange for mythological events, and so on.
Notice the multi-cluster structure. This is not a single undifferentiated hairball; there are clearly separated thematic communities. This visual alone demonstrates the richness of structure within the corpus that would be impossible to see from reading individual hymns.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We ran PageRank with a damping factor of 0.85 on the full graph and applied min-max normalization to the scores.
Murugan scores 1.0 — the maximum — by a large margin, confirming his centrality across essentially the entire corpus. Siva and Valli come next at 0.32 and 0.30 respectively. This is expected: they are Murugan's father and one of his consorts, forming secondary narrative hubs in the mythology. Brahma, Vishnu, and Indra appear at lower scores, reflecting references from the broader Hindu mythological tradition rather than being core subjects of the corpus.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Looking at the thematic analysis: "Devotion to Murugan" dominates with 969 hymns, well ahead of Spiritual Longing at 234 and Enlightenment at 168. This confirms that the corpus is overwhelmingly devotional in character.
For sacred places, Pazhani is the most referenced temple at 98 hymns, followed by Thiruchchendhur at 83. Both are famous Murugan temples in Tamil Nadu. The most frequent mythological event is Murugan's defeat of the demon Suran, appearing in 45 hymns, followed by his marriage to Valli at 28 hymns.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This slide shows the Murugan-centered sub-network in detail. Murugan connects directly to all 1,335 Song nodes through the MENTIONS_ENTITY relationship. Each Song then fans out to Theme, MythEvent, Imagery, Place, and Philosophy nodes.
Siva and Valli form visible secondary clusters around Murugan. The Louvain algorithm detected 9,758 communities — groupings that naturally cluster around themes like battle mythology, sacred temple geography, and devotional philosophy. This community structure opens up possibilities for systematic thematic analysis that would be infeasible through manual reading.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We want to be transparent about current limitations. Manual annotation does not scale easily to larger corpora. Our schema does not yet capture the chandas (poetic meter) system or detailed linguistic features. And we have no automated NLP pipeline — everything depends on human annotators with domain expertise in classical Tamil.
On the future side: we plan to develop Tamil NER and relation extraction to automate annotation, extend the schema to include chandas and linguistic features, apply knowledge graph embeddings such as TransE and RotatE for link prediction, and build interactive visualization dashboards for digital humanities scholars. The long-term goal is to generalize this methodology to other classical Tamil and South Asian devotional texts.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To summarize our five main contributions:
First — the first semantically annotated knowledge graph for Tamil devotional literature: 1,335 hymns, fully annotated.
Second — a rich six-dimension annotation schema producing 28,228 typed edges across entities, themes, mythology, philosophy, imagery, and sacred places.
Third — graph analytics confirming Murugan's normalized centrality score of 1.0 and revealing 9,758 Louvain communities.
Fourth — concrete cultural insights: Pazhani is the most referenced temple, and "Devotion to Murugan" appears in 969 of 1,335 hymns.
Fifth — a reusable methodology that can be applied to other classical low-resource texts, advancing NLP for digital humanities.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Thank you. I'm happy to take any questions.
The dataset is publicly available on GitHub at the link shown on screen. If you are interested in collaborating — whether on applying this to other South Asian classical texts, contributing to the NLP benchmarks we plan to release, or extending the annotation schema — please reach out. My contact details are 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88952" cy="7315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933688" y="73152"/>
            <a:ext cx="3291840" cy="6784848"/>
          </a:xfrm>
          <a:prstGeom prst="rect">
            <a:avLst/>
          </a:prstGeom>
          <a:solidFill>
            <a:srgbClr val="14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897112" y="0"/>
            <a:ext cx="45720"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005840"/>
            <a:ext cx="8412480" cy="1005840"/>
          </a:xfrm>
          <a:prstGeom prst="rect">
            <a:avLst/>
          </a:prstGeom>
          <a:noFill/>
        </p:spPr>
        <p:txBody>
          <a:bodyPr wrap="square">
            <a:spAutoFit/>
          </a:bodyPr>
          <a:lstStyle/>
          <a:p>
            <a:pPr algn="l"/>
            <a:r>
              <a:rPr sz="4200" b="1" i="0">
                <a:solidFill>
                  <a:srgbClr val="FFFFFF"/>
                </a:solidFill>
                <a:latin typeface="Calibri"/>
              </a:rPr>
              <a:t>Thiruppugazh-KG Dataset</a:t>
            </a:r>
          </a:p>
        </p:txBody>
      </p:sp>
      <p:sp>
        <p:nvSpPr>
          <p:cNvPr id="7" name="TextBox 6"/>
          <p:cNvSpPr txBox="1"/>
          <p:nvPr/>
        </p:nvSpPr>
        <p:spPr>
          <a:xfrm>
            <a:off x="502920" y="1920240"/>
            <a:ext cx="8412480" cy="594360"/>
          </a:xfrm>
          <a:prstGeom prst="rect">
            <a:avLst/>
          </a:prstGeom>
          <a:noFill/>
        </p:spPr>
        <p:txBody>
          <a:bodyPr wrap="square">
            <a:spAutoFit/>
          </a:bodyPr>
          <a:lstStyle/>
          <a:p>
            <a:pPr algn="l"/>
            <a:r>
              <a:rPr sz="2600" b="0" i="1">
                <a:solidFill>
                  <a:srgbClr val="F5EDD8"/>
                </a:solidFill>
                <a:latin typeface="Calibri"/>
              </a:rPr>
              <a:t>A Manually Annotated Resource for</a:t>
            </a:r>
          </a:p>
        </p:txBody>
      </p:sp>
      <p:sp>
        <p:nvSpPr>
          <p:cNvPr id="8" name="TextBox 7"/>
          <p:cNvSpPr txBox="1"/>
          <p:nvPr/>
        </p:nvSpPr>
        <p:spPr>
          <a:xfrm>
            <a:off x="502920" y="2423160"/>
            <a:ext cx="8412480" cy="685800"/>
          </a:xfrm>
          <a:prstGeom prst="rect">
            <a:avLst/>
          </a:prstGeom>
          <a:noFill/>
        </p:spPr>
        <p:txBody>
          <a:bodyPr wrap="square">
            <a:spAutoFit/>
          </a:bodyPr>
          <a:lstStyle/>
          <a:p>
            <a:pPr algn="l"/>
            <a:r>
              <a:rPr sz="2600" b="0" i="1">
                <a:solidFill>
                  <a:srgbClr val="F5EDD8"/>
                </a:solidFill>
                <a:latin typeface="Calibri"/>
              </a:rPr>
              <a:t>Computational Analysis of Tamil Devotional Literature</a:t>
            </a:r>
          </a:p>
        </p:txBody>
      </p:sp>
      <p:sp>
        <p:nvSpPr>
          <p:cNvPr id="9" name="Rectangle 8"/>
          <p:cNvSpPr/>
          <p:nvPr/>
        </p:nvSpPr>
        <p:spPr>
          <a:xfrm>
            <a:off x="502920" y="3154680"/>
            <a:ext cx="5029200"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3291840"/>
            <a:ext cx="8229600" cy="822960"/>
          </a:xfrm>
          <a:prstGeom prst="rect">
            <a:avLst/>
          </a:prstGeom>
          <a:noFill/>
        </p:spPr>
        <p:txBody>
          <a:bodyPr wrap="square">
            <a:spAutoFit/>
          </a:bodyPr>
          <a:lstStyle/>
          <a:p>
            <a:pPr algn="l"/>
            <a:r>
              <a:rPr sz="1500" b="0" i="0">
                <a:solidFill>
                  <a:srgbClr val="FFFFFF"/>
                </a:solidFill>
                <a:latin typeface="Calibri"/>
              </a:rPr>
              <a:t>Garthigan Kumarasamy · Jubeerathan Thevakumar · Sathurgini Uthayakumar
Disne Kajanath · Narthana Sivalingam · Uthayasanker Thayasivam</a:t>
            </a:r>
          </a:p>
        </p:txBody>
      </p:sp>
      <p:sp>
        <p:nvSpPr>
          <p:cNvPr id="11" name="TextBox 10"/>
          <p:cNvSpPr txBox="1"/>
          <p:nvPr/>
        </p:nvSpPr>
        <p:spPr>
          <a:xfrm>
            <a:off x="502920" y="4069080"/>
            <a:ext cx="8229600" cy="640080"/>
          </a:xfrm>
          <a:prstGeom prst="rect">
            <a:avLst/>
          </a:prstGeom>
          <a:noFill/>
        </p:spPr>
        <p:txBody>
          <a:bodyPr wrap="square">
            <a:spAutoFit/>
          </a:bodyPr>
          <a:lstStyle/>
          <a:p>
            <a:pPr algn="l"/>
            <a:r>
              <a:rPr sz="1400" b="0" i="1">
                <a:solidFill>
                  <a:srgbClr val="6B7B9A"/>
                </a:solidFill>
                <a:latin typeface="Calibri"/>
              </a:rPr>
              <a:t>Department of Computer Science and Engineering
University of Moratuwa, Sri Lanka</a:t>
            </a:r>
          </a:p>
        </p:txBody>
      </p:sp>
      <p:sp>
        <p:nvSpPr>
          <p:cNvPr id="12" name="Rectangle 11"/>
          <p:cNvSpPr/>
          <p:nvPr/>
        </p:nvSpPr>
        <p:spPr>
          <a:xfrm>
            <a:off x="502920" y="4892040"/>
            <a:ext cx="2926080" cy="5029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4919472"/>
            <a:ext cx="2834640" cy="457200"/>
          </a:xfrm>
          <a:prstGeom prst="rect">
            <a:avLst/>
          </a:prstGeom>
          <a:noFill/>
        </p:spPr>
        <p:txBody>
          <a:bodyPr wrap="square">
            <a:spAutoFit/>
          </a:bodyPr>
          <a:lstStyle/>
          <a:p>
            <a:pPr algn="ctr"/>
            <a:r>
              <a:rPr sz="1300" b="1" i="0" dirty="0">
                <a:solidFill>
                  <a:srgbClr val="1B2A4A"/>
                </a:solidFill>
                <a:latin typeface="Calibri"/>
              </a:rPr>
              <a:t>ACL 2026 — Workshop Presentation</a:t>
            </a:r>
          </a:p>
        </p:txBody>
      </p:sp>
      <p:sp>
        <p:nvSpPr>
          <p:cNvPr id="14" name="TextBox 13"/>
          <p:cNvSpPr txBox="1"/>
          <p:nvPr/>
        </p:nvSpPr>
        <p:spPr>
          <a:xfrm>
            <a:off x="9171432" y="2089400"/>
            <a:ext cx="2834640" cy="630942"/>
          </a:xfrm>
          <a:prstGeom prst="rect">
            <a:avLst/>
          </a:prstGeom>
          <a:noFill/>
        </p:spPr>
        <p:txBody>
          <a:bodyPr wrap="square">
            <a:spAutoFit/>
          </a:bodyPr>
          <a:lstStyle/>
          <a:p>
            <a:pPr algn="ctr"/>
            <a:r>
              <a:rPr lang="en-US" sz="3500" b="1" dirty="0" err="1">
                <a:solidFill>
                  <a:srgbClr val="C8A951"/>
                </a:solidFill>
                <a:latin typeface="NC Thavagi" pitchFamily="2" charset="0"/>
              </a:rPr>
              <a:t>jpUg;Gfo</a:t>
            </a:r>
            <a:r>
              <a:rPr lang="en-US" sz="3500" b="1" dirty="0">
                <a:solidFill>
                  <a:srgbClr val="C8A951"/>
                </a:solidFill>
                <a:latin typeface="NC Thavagi" pitchFamily="2" charset="0"/>
              </a:rPr>
              <a:t>;</a:t>
            </a:r>
            <a:endParaRPr sz="3500" b="1" i="0" dirty="0">
              <a:solidFill>
                <a:srgbClr val="C8A951"/>
              </a:solidFill>
              <a:latin typeface="NC Thavagi" pitchFamily="2" charset="0"/>
            </a:endParaRPr>
          </a:p>
        </p:txBody>
      </p:sp>
      <p:sp>
        <p:nvSpPr>
          <p:cNvPr id="15" name="TextBox 14"/>
          <p:cNvSpPr txBox="1"/>
          <p:nvPr/>
        </p:nvSpPr>
        <p:spPr>
          <a:xfrm>
            <a:off x="9171432" y="2651760"/>
            <a:ext cx="2834640" cy="457200"/>
          </a:xfrm>
          <a:prstGeom prst="rect">
            <a:avLst/>
          </a:prstGeom>
          <a:noFill/>
        </p:spPr>
        <p:txBody>
          <a:bodyPr wrap="square">
            <a:spAutoFit/>
          </a:bodyPr>
          <a:lstStyle/>
          <a:p>
            <a:pPr algn="ctr"/>
            <a:r>
              <a:rPr sz="1600" b="0" i="1">
                <a:solidFill>
                  <a:srgbClr val="F5EDD8"/>
                </a:solidFill>
                <a:latin typeface="Calibri"/>
              </a:rPr>
              <a:t>Thiruppugazh</a:t>
            </a:r>
          </a:p>
        </p:txBody>
      </p:sp>
      <p:sp>
        <p:nvSpPr>
          <p:cNvPr id="16" name="Rectangle 15"/>
          <p:cNvSpPr/>
          <p:nvPr/>
        </p:nvSpPr>
        <p:spPr>
          <a:xfrm>
            <a:off x="9628632" y="3200400"/>
            <a:ext cx="1920240"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71432" y="3337560"/>
            <a:ext cx="2834640" cy="914400"/>
          </a:xfrm>
          <a:prstGeom prst="rect">
            <a:avLst/>
          </a:prstGeom>
          <a:noFill/>
        </p:spPr>
        <p:txBody>
          <a:bodyPr wrap="square">
            <a:spAutoFit/>
          </a:bodyPr>
          <a:lstStyle/>
          <a:p>
            <a:pPr algn="ctr"/>
            <a:r>
              <a:rPr sz="1400" b="0" i="0">
                <a:solidFill>
                  <a:srgbClr val="FFFFFF"/>
                </a:solidFill>
                <a:latin typeface="Calibri"/>
              </a:rPr>
              <a:t>1,335 hymns
15th century CE
Tamil · Low-resource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Motivation</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Why build a knowledge graph for Tamil devotional literature?</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sp>
        <p:nvSpPr>
          <p:cNvPr id="8" name="Rectangle 7"/>
          <p:cNvSpPr/>
          <p:nvPr/>
        </p:nvSpPr>
        <p:spPr>
          <a:xfrm>
            <a:off x="365760" y="1463040"/>
            <a:ext cx="5394960" cy="347472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463040"/>
            <a:ext cx="54864" cy="34747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572768"/>
            <a:ext cx="5212080" cy="3291840"/>
          </a:xfrm>
          <a:prstGeom prst="rect">
            <a:avLst/>
          </a:prstGeom>
          <a:noFill/>
        </p:spPr>
        <p:txBody>
          <a:bodyPr wrap="square">
            <a:spAutoFit/>
          </a:bodyPr>
          <a:lstStyle/>
          <a:p>
            <a:pPr algn="l"/>
            <a:r>
              <a:rPr sz="1900" b="1">
                <a:solidFill>
                  <a:srgbClr val="1B2A4A"/>
                </a:solidFill>
                <a:latin typeface="Calibri"/>
              </a:rPr>
              <a:t>The Gap</a:t>
            </a:r>
          </a:p>
          <a:p>
            <a:pPr algn="l">
              <a:spcBef>
                <a:spcPts val="400"/>
              </a:spcBef>
            </a:pPr>
            <a:r>
              <a:rPr sz="1700">
                <a:solidFill>
                  <a:srgbClr val="1A1A2E"/>
                </a:solidFill>
                <a:latin typeface="Calibri"/>
              </a:rPr>
              <a:t>▸  Tamil is a low-resource language with limited NLP tools</a:t>
            </a:r>
          </a:p>
          <a:p>
            <a:pPr algn="l">
              <a:spcBef>
                <a:spcPts val="400"/>
              </a:spcBef>
            </a:pPr>
            <a:r>
              <a:rPr sz="1700">
                <a:solidFill>
                  <a:srgbClr val="1A1A2E"/>
                </a:solidFill>
                <a:latin typeface="Calibri"/>
              </a:rPr>
              <a:t>▸  Thiruppugazh is one of the richest devotional corpora — 1,335 hymns, 15th century</a:t>
            </a:r>
          </a:p>
          <a:p>
            <a:pPr algn="l">
              <a:spcBef>
                <a:spcPts val="400"/>
              </a:spcBef>
            </a:pPr>
            <a:r>
              <a:rPr sz="1700">
                <a:solidFill>
                  <a:srgbClr val="1A1A2E"/>
                </a:solidFill>
                <a:latin typeface="Calibri"/>
              </a:rPr>
              <a:t>▸  No structured, machine-readable representation exists for computational analysis</a:t>
            </a:r>
          </a:p>
          <a:p>
            <a:pPr algn="l">
              <a:spcBef>
                <a:spcPts val="400"/>
              </a:spcBef>
            </a:pPr>
            <a:r>
              <a:rPr sz="1700">
                <a:solidFill>
                  <a:srgbClr val="1A1A2E"/>
                </a:solidFill>
                <a:latin typeface="Calibri"/>
              </a:rPr>
              <a:t>▸  Scholars rely on manual reading; no way to query across the full corpus at scale</a:t>
            </a:r>
          </a:p>
        </p:txBody>
      </p:sp>
      <p:sp>
        <p:nvSpPr>
          <p:cNvPr id="11" name="Rectangle 10"/>
          <p:cNvSpPr/>
          <p:nvPr/>
        </p:nvSpPr>
        <p:spPr>
          <a:xfrm>
            <a:off x="6035040" y="1463040"/>
            <a:ext cx="5760720" cy="347472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35040" y="1463040"/>
            <a:ext cx="54864" cy="34747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72200" y="1572768"/>
            <a:ext cx="5577840" cy="3291840"/>
          </a:xfrm>
          <a:prstGeom prst="rect">
            <a:avLst/>
          </a:prstGeom>
          <a:noFill/>
        </p:spPr>
        <p:txBody>
          <a:bodyPr wrap="square">
            <a:spAutoFit/>
          </a:bodyPr>
          <a:lstStyle/>
          <a:p>
            <a:pPr algn="l"/>
            <a:r>
              <a:rPr sz="1900" b="1">
                <a:solidFill>
                  <a:srgbClr val="2B7A6F"/>
                </a:solidFill>
                <a:latin typeface="Calibri"/>
              </a:rPr>
              <a:t>The Opportunity</a:t>
            </a:r>
          </a:p>
          <a:p>
            <a:pPr algn="l">
              <a:spcBef>
                <a:spcPts val="400"/>
              </a:spcBef>
            </a:pPr>
            <a:r>
              <a:rPr sz="1700">
                <a:solidFill>
                  <a:srgbClr val="1A1A2E"/>
                </a:solidFill>
                <a:latin typeface="Calibri"/>
              </a:rPr>
              <a:t>▸  Knowledge graphs model entities &amp; relationships — ideal for literary corpora</a:t>
            </a:r>
          </a:p>
          <a:p>
            <a:pPr algn="l">
              <a:spcBef>
                <a:spcPts val="400"/>
              </a:spcBef>
            </a:pPr>
            <a:r>
              <a:rPr sz="1700">
                <a:solidFill>
                  <a:srgbClr val="1A1A2E"/>
                </a:solidFill>
                <a:latin typeface="Calibri"/>
              </a:rPr>
              <a:t>▸  Graph analytics (PageRank, community detection) reveal hidden cultural patterns</a:t>
            </a:r>
          </a:p>
          <a:p>
            <a:pPr algn="l">
              <a:spcBef>
                <a:spcPts val="400"/>
              </a:spcBef>
            </a:pPr>
            <a:r>
              <a:rPr sz="1700">
                <a:solidFill>
                  <a:srgbClr val="1A1A2E"/>
                </a:solidFill>
                <a:latin typeface="Calibri"/>
              </a:rPr>
              <a:t>▸  Enables semantic search, thematic clustering, and sacred geography mapping</a:t>
            </a:r>
          </a:p>
          <a:p>
            <a:pPr algn="l">
              <a:spcBef>
                <a:spcPts val="400"/>
              </a:spcBef>
            </a:pPr>
            <a:r>
              <a:rPr sz="1700">
                <a:solidFill>
                  <a:srgbClr val="1A1A2E"/>
                </a:solidFill>
                <a:latin typeface="Calibri"/>
              </a:rPr>
              <a:t>▸  Creates a reusable framework for other classical texts in low-resource languages</a:t>
            </a:r>
          </a:p>
        </p:txBody>
      </p:sp>
      <p:sp>
        <p:nvSpPr>
          <p:cNvPr id="14" name="Rectangle 13"/>
          <p:cNvSpPr/>
          <p:nvPr/>
        </p:nvSpPr>
        <p:spPr>
          <a:xfrm>
            <a:off x="365760" y="5120640"/>
            <a:ext cx="11430000" cy="118872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5120640"/>
            <a:ext cx="64008"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5230368"/>
            <a:ext cx="11064240" cy="914400"/>
          </a:xfrm>
          <a:prstGeom prst="rect">
            <a:avLst/>
          </a:prstGeom>
          <a:noFill/>
        </p:spPr>
        <p:txBody>
          <a:bodyPr wrap="square">
            <a:spAutoFit/>
          </a:bodyPr>
          <a:lstStyle/>
          <a:p>
            <a:pPr algn="l"/>
            <a:r>
              <a:rPr sz="1600" b="0" i="1">
                <a:solidFill>
                  <a:srgbClr val="1B2A4A"/>
                </a:solidFill>
                <a:latin typeface="Calibri"/>
              </a:rPr>
              <a:t>We introduce Thiruppugazh-KG — the first semantically annotated knowledge graph dataset for Tamil devotional literature, enabling computational analysis of mythology, themes, and sacred geography.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The Thiruppugazh Corpus</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A 15th-century Tamil devotional masterpiece</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5982"/>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sp>
        <p:nvSpPr>
          <p:cNvPr id="8" name="Rectangle 7"/>
          <p:cNvSpPr/>
          <p:nvPr/>
        </p:nvSpPr>
        <p:spPr>
          <a:xfrm>
            <a:off x="365760" y="1508760"/>
            <a:ext cx="214884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600200"/>
            <a:ext cx="2148840" cy="594360"/>
          </a:xfrm>
          <a:prstGeom prst="rect">
            <a:avLst/>
          </a:prstGeom>
          <a:noFill/>
        </p:spPr>
        <p:txBody>
          <a:bodyPr wrap="square">
            <a:spAutoFit/>
          </a:bodyPr>
          <a:lstStyle/>
          <a:p>
            <a:pPr algn="ctr"/>
            <a:r>
              <a:rPr sz="3600" b="1" i="0">
                <a:solidFill>
                  <a:srgbClr val="C8A951"/>
                </a:solidFill>
                <a:latin typeface="Calibri"/>
              </a:rPr>
              <a:t>1,335</a:t>
            </a:r>
          </a:p>
        </p:txBody>
      </p:sp>
      <p:sp>
        <p:nvSpPr>
          <p:cNvPr id="10" name="TextBox 9"/>
          <p:cNvSpPr txBox="1"/>
          <p:nvPr/>
        </p:nvSpPr>
        <p:spPr>
          <a:xfrm>
            <a:off x="365760" y="2103120"/>
            <a:ext cx="2148840" cy="365760"/>
          </a:xfrm>
          <a:prstGeom prst="rect">
            <a:avLst/>
          </a:prstGeom>
          <a:noFill/>
        </p:spPr>
        <p:txBody>
          <a:bodyPr wrap="square">
            <a:spAutoFit/>
          </a:bodyPr>
          <a:lstStyle/>
          <a:p>
            <a:pPr algn="ctr"/>
            <a:r>
              <a:rPr sz="1300" b="0" i="0">
                <a:solidFill>
                  <a:srgbClr val="FFFFFF"/>
                </a:solidFill>
                <a:latin typeface="Calibri"/>
              </a:rPr>
              <a:t>Total Hymns</a:t>
            </a:r>
          </a:p>
        </p:txBody>
      </p:sp>
      <p:sp>
        <p:nvSpPr>
          <p:cNvPr id="11" name="Rectangle 10"/>
          <p:cNvSpPr/>
          <p:nvPr/>
        </p:nvSpPr>
        <p:spPr>
          <a:xfrm>
            <a:off x="2679192" y="1508760"/>
            <a:ext cx="214884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79192" y="1600200"/>
            <a:ext cx="2148840" cy="594360"/>
          </a:xfrm>
          <a:prstGeom prst="rect">
            <a:avLst/>
          </a:prstGeom>
          <a:noFill/>
        </p:spPr>
        <p:txBody>
          <a:bodyPr wrap="square">
            <a:spAutoFit/>
          </a:bodyPr>
          <a:lstStyle/>
          <a:p>
            <a:pPr algn="ctr"/>
            <a:r>
              <a:rPr sz="3600" b="1" i="0">
                <a:solidFill>
                  <a:srgbClr val="C8A951"/>
                </a:solidFill>
                <a:latin typeface="Calibri"/>
              </a:rPr>
              <a:t>15th CE</a:t>
            </a:r>
          </a:p>
        </p:txBody>
      </p:sp>
      <p:sp>
        <p:nvSpPr>
          <p:cNvPr id="13" name="TextBox 12"/>
          <p:cNvSpPr txBox="1"/>
          <p:nvPr/>
        </p:nvSpPr>
        <p:spPr>
          <a:xfrm>
            <a:off x="2679192" y="2103120"/>
            <a:ext cx="2148840" cy="365760"/>
          </a:xfrm>
          <a:prstGeom prst="rect">
            <a:avLst/>
          </a:prstGeom>
          <a:noFill/>
        </p:spPr>
        <p:txBody>
          <a:bodyPr wrap="square">
            <a:spAutoFit/>
          </a:bodyPr>
          <a:lstStyle/>
          <a:p>
            <a:pPr algn="ctr"/>
            <a:r>
              <a:rPr sz="1300" b="0" i="0">
                <a:solidFill>
                  <a:srgbClr val="FFFFFF"/>
                </a:solidFill>
                <a:latin typeface="Calibri"/>
              </a:rPr>
              <a:t>Century</a:t>
            </a:r>
          </a:p>
        </p:txBody>
      </p:sp>
      <p:sp>
        <p:nvSpPr>
          <p:cNvPr id="14" name="Rectangle 13"/>
          <p:cNvSpPr/>
          <p:nvPr/>
        </p:nvSpPr>
        <p:spPr>
          <a:xfrm>
            <a:off x="4992624" y="1508760"/>
            <a:ext cx="214884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92624" y="1600200"/>
            <a:ext cx="2148840" cy="594360"/>
          </a:xfrm>
          <a:prstGeom prst="rect">
            <a:avLst/>
          </a:prstGeom>
          <a:noFill/>
        </p:spPr>
        <p:txBody>
          <a:bodyPr wrap="square">
            <a:spAutoFit/>
          </a:bodyPr>
          <a:lstStyle/>
          <a:p>
            <a:pPr algn="ctr"/>
            <a:r>
              <a:rPr sz="3600" b="1" i="0">
                <a:solidFill>
                  <a:srgbClr val="C8A951"/>
                </a:solidFill>
                <a:latin typeface="Calibri"/>
              </a:rPr>
              <a:t>Murugan</a:t>
            </a:r>
          </a:p>
        </p:txBody>
      </p:sp>
      <p:sp>
        <p:nvSpPr>
          <p:cNvPr id="16" name="TextBox 15"/>
          <p:cNvSpPr txBox="1"/>
          <p:nvPr/>
        </p:nvSpPr>
        <p:spPr>
          <a:xfrm>
            <a:off x="4992624" y="2103120"/>
            <a:ext cx="2148840" cy="365760"/>
          </a:xfrm>
          <a:prstGeom prst="rect">
            <a:avLst/>
          </a:prstGeom>
          <a:noFill/>
        </p:spPr>
        <p:txBody>
          <a:bodyPr wrap="square">
            <a:spAutoFit/>
          </a:bodyPr>
          <a:lstStyle/>
          <a:p>
            <a:pPr algn="ctr"/>
            <a:r>
              <a:rPr sz="1300" b="0" i="0">
                <a:solidFill>
                  <a:srgbClr val="FFFFFF"/>
                </a:solidFill>
                <a:latin typeface="Calibri"/>
              </a:rPr>
              <a:t>Primary Deity</a:t>
            </a:r>
          </a:p>
        </p:txBody>
      </p:sp>
      <p:sp>
        <p:nvSpPr>
          <p:cNvPr id="17" name="Rectangle 16"/>
          <p:cNvSpPr/>
          <p:nvPr/>
        </p:nvSpPr>
        <p:spPr>
          <a:xfrm>
            <a:off x="7306056" y="1508760"/>
            <a:ext cx="214884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06056" y="1600200"/>
            <a:ext cx="2148840" cy="594360"/>
          </a:xfrm>
          <a:prstGeom prst="rect">
            <a:avLst/>
          </a:prstGeom>
          <a:noFill/>
        </p:spPr>
        <p:txBody>
          <a:bodyPr wrap="square">
            <a:spAutoFit/>
          </a:bodyPr>
          <a:lstStyle/>
          <a:p>
            <a:pPr algn="ctr"/>
            <a:r>
              <a:rPr sz="3600" b="1" i="0">
                <a:solidFill>
                  <a:srgbClr val="C8A951"/>
                </a:solidFill>
                <a:latin typeface="Calibri"/>
              </a:rPr>
              <a:t>Tamil</a:t>
            </a:r>
          </a:p>
        </p:txBody>
      </p:sp>
      <p:sp>
        <p:nvSpPr>
          <p:cNvPr id="19" name="TextBox 18"/>
          <p:cNvSpPr txBox="1"/>
          <p:nvPr/>
        </p:nvSpPr>
        <p:spPr>
          <a:xfrm>
            <a:off x="7306056" y="2103120"/>
            <a:ext cx="2148840" cy="365760"/>
          </a:xfrm>
          <a:prstGeom prst="rect">
            <a:avLst/>
          </a:prstGeom>
          <a:noFill/>
        </p:spPr>
        <p:txBody>
          <a:bodyPr wrap="square">
            <a:spAutoFit/>
          </a:bodyPr>
          <a:lstStyle/>
          <a:p>
            <a:pPr algn="ctr"/>
            <a:r>
              <a:rPr sz="1300" b="0" i="0">
                <a:solidFill>
                  <a:srgbClr val="FFFFFF"/>
                </a:solidFill>
                <a:latin typeface="Calibri"/>
              </a:rPr>
              <a:t>Language</a:t>
            </a:r>
          </a:p>
        </p:txBody>
      </p:sp>
      <p:sp>
        <p:nvSpPr>
          <p:cNvPr id="20" name="Rectangle 19"/>
          <p:cNvSpPr/>
          <p:nvPr/>
        </p:nvSpPr>
        <p:spPr>
          <a:xfrm>
            <a:off x="9619488" y="1508760"/>
            <a:ext cx="2148840"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19488" y="1600200"/>
            <a:ext cx="2148840" cy="594360"/>
          </a:xfrm>
          <a:prstGeom prst="rect">
            <a:avLst/>
          </a:prstGeom>
          <a:noFill/>
        </p:spPr>
        <p:txBody>
          <a:bodyPr wrap="square">
            <a:spAutoFit/>
          </a:bodyPr>
          <a:lstStyle/>
          <a:p>
            <a:pPr algn="ctr"/>
            <a:r>
              <a:rPr sz="3600" b="1" i="0" dirty="0">
                <a:solidFill>
                  <a:srgbClr val="C8A951"/>
                </a:solidFill>
                <a:latin typeface="Calibri"/>
              </a:rPr>
              <a:t>Bhakti Poetry</a:t>
            </a:r>
          </a:p>
        </p:txBody>
      </p:sp>
      <p:sp>
        <p:nvSpPr>
          <p:cNvPr id="22" name="TextBox 21"/>
          <p:cNvSpPr txBox="1"/>
          <p:nvPr/>
        </p:nvSpPr>
        <p:spPr>
          <a:xfrm>
            <a:off x="9619488" y="2103120"/>
            <a:ext cx="2148840" cy="365760"/>
          </a:xfrm>
          <a:prstGeom prst="rect">
            <a:avLst/>
          </a:prstGeom>
          <a:noFill/>
        </p:spPr>
        <p:txBody>
          <a:bodyPr wrap="square">
            <a:spAutoFit/>
          </a:bodyPr>
          <a:lstStyle/>
          <a:p>
            <a:pPr algn="ctr"/>
            <a:r>
              <a:rPr sz="1300" b="0" i="0">
                <a:solidFill>
                  <a:srgbClr val="FFFFFF"/>
                </a:solidFill>
                <a:latin typeface="Calibri"/>
              </a:rPr>
              <a:t>Genre</a:t>
            </a:r>
          </a:p>
        </p:txBody>
      </p:sp>
      <p:sp>
        <p:nvSpPr>
          <p:cNvPr id="23" name="Rectangle 22"/>
          <p:cNvSpPr/>
          <p:nvPr/>
        </p:nvSpPr>
        <p:spPr>
          <a:xfrm>
            <a:off x="365760" y="2743199"/>
            <a:ext cx="6766560" cy="3565079"/>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2743200"/>
            <a:ext cx="54864" cy="34747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2852928"/>
            <a:ext cx="6583680" cy="3565079"/>
          </a:xfrm>
          <a:prstGeom prst="rect">
            <a:avLst/>
          </a:prstGeom>
          <a:noFill/>
        </p:spPr>
        <p:txBody>
          <a:bodyPr wrap="square">
            <a:spAutoFit/>
          </a:bodyPr>
          <a:lstStyle/>
          <a:p>
            <a:pPr algn="l"/>
            <a:r>
              <a:rPr sz="1900" b="1" dirty="0">
                <a:solidFill>
                  <a:srgbClr val="1B2A4A"/>
                </a:solidFill>
                <a:latin typeface="Calibri"/>
              </a:rPr>
              <a:t>About the Corpus</a:t>
            </a:r>
          </a:p>
          <a:p>
            <a:pPr algn="l">
              <a:spcBef>
                <a:spcPts val="400"/>
              </a:spcBef>
            </a:pPr>
            <a:r>
              <a:rPr sz="1700" dirty="0">
                <a:solidFill>
                  <a:srgbClr val="1A1A2E"/>
                </a:solidFill>
                <a:latin typeface="Calibri"/>
              </a:rPr>
              <a:t>▸  Composed by saint-poet </a:t>
            </a:r>
            <a:r>
              <a:rPr sz="1700" dirty="0" err="1">
                <a:solidFill>
                  <a:srgbClr val="1A1A2E"/>
                </a:solidFill>
                <a:latin typeface="Calibri"/>
              </a:rPr>
              <a:t>Arunagirinathar</a:t>
            </a:r>
            <a:r>
              <a:rPr sz="1700" dirty="0">
                <a:solidFill>
                  <a:srgbClr val="1A1A2E"/>
                </a:solidFill>
                <a:latin typeface="Calibri"/>
              </a:rPr>
              <a:t> </a:t>
            </a:r>
            <a:r>
              <a:rPr sz="1700" dirty="0">
                <a:solidFill>
                  <a:srgbClr val="1A1A2E"/>
                </a:solidFill>
                <a:latin typeface="NC Thavagi" pitchFamily="2" charset="0"/>
              </a:rPr>
              <a:t>(</a:t>
            </a:r>
            <a:r>
              <a:rPr lang="en-US" sz="2000" dirty="0" err="1">
                <a:solidFill>
                  <a:srgbClr val="1A1A2E"/>
                </a:solidFill>
                <a:latin typeface="NC Thavagi" pitchFamily="2" charset="0"/>
              </a:rPr>
              <a:t>mUzfpupehju</a:t>
            </a:r>
            <a:r>
              <a:rPr lang="en-US" sz="1700" dirty="0">
                <a:solidFill>
                  <a:srgbClr val="1A1A2E"/>
                </a:solidFill>
                <a:latin typeface="NC Thavagi" pitchFamily="2" charset="0"/>
              </a:rPr>
              <a:t>;</a:t>
            </a:r>
            <a:r>
              <a:rPr sz="1700" dirty="0">
                <a:solidFill>
                  <a:srgbClr val="1A1A2E"/>
                </a:solidFill>
                <a:latin typeface="NC Thavagi" pitchFamily="2" charset="0"/>
              </a:rPr>
              <a:t>)</a:t>
            </a:r>
            <a:r>
              <a:rPr sz="1700" dirty="0">
                <a:solidFill>
                  <a:srgbClr val="1A1A2E"/>
                </a:solidFill>
                <a:latin typeface="Calibri"/>
              </a:rPr>
              <a:t> in the 15th century CE</a:t>
            </a:r>
          </a:p>
          <a:p>
            <a:pPr algn="l">
              <a:spcBef>
                <a:spcPts val="400"/>
              </a:spcBef>
            </a:pPr>
            <a:r>
              <a:rPr sz="1700" dirty="0">
                <a:solidFill>
                  <a:srgbClr val="1A1A2E"/>
                </a:solidFill>
                <a:latin typeface="Calibri"/>
              </a:rPr>
              <a:t>▸  Dedicated to Lord </a:t>
            </a:r>
            <a:r>
              <a:rPr sz="1700" dirty="0" err="1">
                <a:solidFill>
                  <a:srgbClr val="1A1A2E"/>
                </a:solidFill>
                <a:latin typeface="Calibri"/>
              </a:rPr>
              <a:t>Murugan</a:t>
            </a:r>
            <a:r>
              <a:rPr sz="1700" dirty="0">
                <a:solidFill>
                  <a:srgbClr val="1A1A2E"/>
                </a:solidFill>
                <a:latin typeface="Calibri"/>
              </a:rPr>
              <a:t> (Karthikeya), a central deity in Tamil Shaivism</a:t>
            </a:r>
          </a:p>
          <a:p>
            <a:pPr algn="l">
              <a:spcBef>
                <a:spcPts val="400"/>
              </a:spcBef>
            </a:pPr>
            <a:r>
              <a:rPr sz="1700" dirty="0">
                <a:solidFill>
                  <a:srgbClr val="1A1A2E"/>
                </a:solidFill>
                <a:latin typeface="Calibri"/>
              </a:rPr>
              <a:t>▸  Renowned for its complex rhythmic structure (</a:t>
            </a:r>
            <a:r>
              <a:rPr sz="1700" dirty="0" err="1">
                <a:solidFill>
                  <a:srgbClr val="1A1A2E"/>
                </a:solidFill>
                <a:latin typeface="Calibri"/>
              </a:rPr>
              <a:t>chandas</a:t>
            </a:r>
            <a:r>
              <a:rPr sz="1700" dirty="0">
                <a:solidFill>
                  <a:srgbClr val="1A1A2E"/>
                </a:solidFill>
                <a:latin typeface="Calibri"/>
              </a:rPr>
              <a:t>), vivid symbolism, and philosophical depth</a:t>
            </a:r>
          </a:p>
          <a:p>
            <a:pPr algn="l">
              <a:spcBef>
                <a:spcPts val="400"/>
              </a:spcBef>
            </a:pPr>
            <a:r>
              <a:rPr sz="1700" dirty="0">
                <a:solidFill>
                  <a:srgbClr val="1A1A2E"/>
                </a:solidFill>
                <a:latin typeface="Calibri"/>
              </a:rPr>
              <a:t>▸  Combines mythology, spiritual philosophy, and sacred temple geography across 1,335 hymns</a:t>
            </a:r>
          </a:p>
          <a:p>
            <a:pPr algn="l">
              <a:spcBef>
                <a:spcPts val="400"/>
              </a:spcBef>
            </a:pPr>
            <a:r>
              <a:rPr sz="1700" dirty="0">
                <a:solidFill>
                  <a:srgbClr val="1A1A2E"/>
                </a:solidFill>
                <a:latin typeface="Calibri"/>
              </a:rPr>
              <a:t>▸  Data sourced from the </a:t>
            </a:r>
            <a:r>
              <a:rPr sz="1700" dirty="0" err="1">
                <a:solidFill>
                  <a:srgbClr val="1A1A2E"/>
                </a:solidFill>
                <a:latin typeface="Calibri"/>
              </a:rPr>
              <a:t>Kaumaram</a:t>
            </a:r>
            <a:r>
              <a:rPr sz="1700" dirty="0">
                <a:solidFill>
                  <a:srgbClr val="1A1A2E"/>
                </a:solidFill>
                <a:latin typeface="Calibri"/>
              </a:rPr>
              <a:t> </a:t>
            </a:r>
            <a:r>
              <a:rPr sz="1700" dirty="0" err="1">
                <a:solidFill>
                  <a:srgbClr val="1A1A2E"/>
                </a:solidFill>
                <a:latin typeface="Calibri"/>
              </a:rPr>
              <a:t>Thiruppugazh</a:t>
            </a:r>
            <a:r>
              <a:rPr sz="1700" dirty="0">
                <a:solidFill>
                  <a:srgbClr val="1A1A2E"/>
                </a:solidFill>
                <a:latin typeface="Calibri"/>
              </a:rPr>
              <a:t> Digital Archive — includes original Tamil text, explanatory notes, and English interpretations</a:t>
            </a:r>
          </a:p>
        </p:txBody>
      </p:sp>
      <p:sp>
        <p:nvSpPr>
          <p:cNvPr id="26" name="Rectangle 25"/>
          <p:cNvSpPr/>
          <p:nvPr/>
        </p:nvSpPr>
        <p:spPr>
          <a:xfrm>
            <a:off x="7406640" y="2743200"/>
            <a:ext cx="4389120" cy="3565078"/>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06640" y="2743200"/>
            <a:ext cx="64008" cy="34747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89520" y="2834640"/>
            <a:ext cx="4023360" cy="411480"/>
          </a:xfrm>
          <a:prstGeom prst="rect">
            <a:avLst/>
          </a:prstGeom>
          <a:noFill/>
        </p:spPr>
        <p:txBody>
          <a:bodyPr wrap="square">
            <a:spAutoFit/>
          </a:bodyPr>
          <a:lstStyle/>
          <a:p>
            <a:pPr algn="l"/>
            <a:r>
              <a:rPr sz="1800" b="1" i="0">
                <a:solidFill>
                  <a:srgbClr val="1B2A4A"/>
                </a:solidFill>
                <a:latin typeface="Calibri"/>
              </a:rPr>
              <a:t>Annotation Categories</a:t>
            </a:r>
          </a:p>
        </p:txBody>
      </p:sp>
      <p:sp>
        <p:nvSpPr>
          <p:cNvPr id="29" name="TextBox 28"/>
          <p:cNvSpPr txBox="1"/>
          <p:nvPr/>
        </p:nvSpPr>
        <p:spPr>
          <a:xfrm>
            <a:off x="7589520" y="3337560"/>
            <a:ext cx="1828800" cy="457200"/>
          </a:xfrm>
          <a:prstGeom prst="rect">
            <a:avLst/>
          </a:prstGeom>
          <a:noFill/>
        </p:spPr>
        <p:txBody>
          <a:bodyPr wrap="square">
            <a:spAutoFit/>
          </a:bodyPr>
          <a:lstStyle/>
          <a:p>
            <a:pPr algn="l"/>
            <a:r>
              <a:rPr sz="1400" b="1" i="0">
                <a:solidFill>
                  <a:srgbClr val="2B7A6F"/>
                </a:solidFill>
                <a:latin typeface="Calibri"/>
              </a:rPr>
              <a:t>🏛  Entities</a:t>
            </a:r>
          </a:p>
        </p:txBody>
      </p:sp>
      <p:sp>
        <p:nvSpPr>
          <p:cNvPr id="30" name="TextBox 29"/>
          <p:cNvSpPr txBox="1"/>
          <p:nvPr/>
        </p:nvSpPr>
        <p:spPr>
          <a:xfrm>
            <a:off x="9235440" y="3337560"/>
            <a:ext cx="2468880" cy="457200"/>
          </a:xfrm>
          <a:prstGeom prst="rect">
            <a:avLst/>
          </a:prstGeom>
          <a:noFill/>
        </p:spPr>
        <p:txBody>
          <a:bodyPr wrap="square">
            <a:spAutoFit/>
          </a:bodyPr>
          <a:lstStyle/>
          <a:p>
            <a:pPr algn="l"/>
            <a:r>
              <a:rPr sz="1300" b="0" i="0">
                <a:solidFill>
                  <a:srgbClr val="1A1A2E"/>
                </a:solidFill>
                <a:latin typeface="Calibri"/>
              </a:rPr>
              <a:t>Deities, saints, named persons</a:t>
            </a:r>
          </a:p>
        </p:txBody>
      </p:sp>
      <p:sp>
        <p:nvSpPr>
          <p:cNvPr id="31" name="TextBox 30"/>
          <p:cNvSpPr txBox="1"/>
          <p:nvPr/>
        </p:nvSpPr>
        <p:spPr>
          <a:xfrm>
            <a:off x="7589520" y="3803904"/>
            <a:ext cx="1828800" cy="457200"/>
          </a:xfrm>
          <a:prstGeom prst="rect">
            <a:avLst/>
          </a:prstGeom>
          <a:noFill/>
        </p:spPr>
        <p:txBody>
          <a:bodyPr wrap="square">
            <a:spAutoFit/>
          </a:bodyPr>
          <a:lstStyle/>
          <a:p>
            <a:pPr algn="l"/>
            <a:r>
              <a:rPr sz="1400" b="1" i="0">
                <a:solidFill>
                  <a:srgbClr val="2B7A6F"/>
                </a:solidFill>
                <a:latin typeface="Calibri"/>
              </a:rPr>
              <a:t>🌿  Themes</a:t>
            </a:r>
          </a:p>
        </p:txBody>
      </p:sp>
      <p:sp>
        <p:nvSpPr>
          <p:cNvPr id="32" name="TextBox 31"/>
          <p:cNvSpPr txBox="1"/>
          <p:nvPr/>
        </p:nvSpPr>
        <p:spPr>
          <a:xfrm>
            <a:off x="9235440" y="3803904"/>
            <a:ext cx="2468880" cy="457200"/>
          </a:xfrm>
          <a:prstGeom prst="rect">
            <a:avLst/>
          </a:prstGeom>
          <a:noFill/>
        </p:spPr>
        <p:txBody>
          <a:bodyPr wrap="square">
            <a:spAutoFit/>
          </a:bodyPr>
          <a:lstStyle/>
          <a:p>
            <a:pPr algn="l"/>
            <a:r>
              <a:rPr sz="1300" b="0" i="0">
                <a:solidFill>
                  <a:srgbClr val="1A1A2E"/>
                </a:solidFill>
                <a:latin typeface="Calibri"/>
              </a:rPr>
              <a:t>Devotional &amp; philosophical themes</a:t>
            </a:r>
          </a:p>
        </p:txBody>
      </p:sp>
      <p:sp>
        <p:nvSpPr>
          <p:cNvPr id="33" name="TextBox 32"/>
          <p:cNvSpPr txBox="1"/>
          <p:nvPr/>
        </p:nvSpPr>
        <p:spPr>
          <a:xfrm>
            <a:off x="7589520" y="4270248"/>
            <a:ext cx="1828800" cy="457200"/>
          </a:xfrm>
          <a:prstGeom prst="rect">
            <a:avLst/>
          </a:prstGeom>
          <a:noFill/>
        </p:spPr>
        <p:txBody>
          <a:bodyPr wrap="square">
            <a:spAutoFit/>
          </a:bodyPr>
          <a:lstStyle/>
          <a:p>
            <a:pPr algn="l"/>
            <a:r>
              <a:rPr sz="1400" b="1" i="0">
                <a:solidFill>
                  <a:srgbClr val="2B7A6F"/>
                </a:solidFill>
                <a:latin typeface="Calibri"/>
              </a:rPr>
              <a:t>⚔️  Mythological Events</a:t>
            </a:r>
          </a:p>
        </p:txBody>
      </p:sp>
      <p:sp>
        <p:nvSpPr>
          <p:cNvPr id="34" name="TextBox 33"/>
          <p:cNvSpPr txBox="1"/>
          <p:nvPr/>
        </p:nvSpPr>
        <p:spPr>
          <a:xfrm>
            <a:off x="9235440" y="4270248"/>
            <a:ext cx="2468880" cy="457200"/>
          </a:xfrm>
          <a:prstGeom prst="rect">
            <a:avLst/>
          </a:prstGeom>
          <a:noFill/>
        </p:spPr>
        <p:txBody>
          <a:bodyPr wrap="square">
            <a:spAutoFit/>
          </a:bodyPr>
          <a:lstStyle/>
          <a:p>
            <a:pPr algn="l"/>
            <a:r>
              <a:rPr sz="1300" b="0" i="0">
                <a:solidFill>
                  <a:srgbClr val="1A1A2E"/>
                </a:solidFill>
                <a:latin typeface="Calibri"/>
              </a:rPr>
              <a:t>Stories &amp; battles from Hindu mythology</a:t>
            </a:r>
          </a:p>
        </p:txBody>
      </p:sp>
      <p:sp>
        <p:nvSpPr>
          <p:cNvPr id="35" name="TextBox 34"/>
          <p:cNvSpPr txBox="1"/>
          <p:nvPr/>
        </p:nvSpPr>
        <p:spPr>
          <a:xfrm>
            <a:off x="7589520" y="4736592"/>
            <a:ext cx="1828800" cy="457200"/>
          </a:xfrm>
          <a:prstGeom prst="rect">
            <a:avLst/>
          </a:prstGeom>
          <a:noFill/>
        </p:spPr>
        <p:txBody>
          <a:bodyPr wrap="square">
            <a:spAutoFit/>
          </a:bodyPr>
          <a:lstStyle/>
          <a:p>
            <a:pPr algn="l"/>
            <a:r>
              <a:rPr sz="1400" b="1" i="0">
                <a:solidFill>
                  <a:srgbClr val="2B7A6F"/>
                </a:solidFill>
                <a:latin typeface="Calibri"/>
              </a:rPr>
              <a:t>🔮  Philosophy</a:t>
            </a:r>
          </a:p>
        </p:txBody>
      </p:sp>
      <p:sp>
        <p:nvSpPr>
          <p:cNvPr id="36" name="TextBox 35"/>
          <p:cNvSpPr txBox="1"/>
          <p:nvPr/>
        </p:nvSpPr>
        <p:spPr>
          <a:xfrm>
            <a:off x="9235440" y="4736592"/>
            <a:ext cx="2468880" cy="457200"/>
          </a:xfrm>
          <a:prstGeom prst="rect">
            <a:avLst/>
          </a:prstGeom>
          <a:noFill/>
        </p:spPr>
        <p:txBody>
          <a:bodyPr wrap="square">
            <a:spAutoFit/>
          </a:bodyPr>
          <a:lstStyle/>
          <a:p>
            <a:pPr algn="l"/>
            <a:r>
              <a:rPr sz="1300" b="0" i="0">
                <a:solidFill>
                  <a:srgbClr val="1A1A2E"/>
                </a:solidFill>
                <a:latin typeface="Calibri"/>
              </a:rPr>
              <a:t>Spiritual &amp; metaphysical concepts</a:t>
            </a:r>
          </a:p>
        </p:txBody>
      </p:sp>
      <p:sp>
        <p:nvSpPr>
          <p:cNvPr id="37" name="TextBox 36"/>
          <p:cNvSpPr txBox="1"/>
          <p:nvPr/>
        </p:nvSpPr>
        <p:spPr>
          <a:xfrm>
            <a:off x="7589520" y="5202936"/>
            <a:ext cx="1828800" cy="457200"/>
          </a:xfrm>
          <a:prstGeom prst="rect">
            <a:avLst/>
          </a:prstGeom>
          <a:noFill/>
        </p:spPr>
        <p:txBody>
          <a:bodyPr wrap="square">
            <a:spAutoFit/>
          </a:bodyPr>
          <a:lstStyle/>
          <a:p>
            <a:pPr algn="l"/>
            <a:r>
              <a:rPr sz="1400" b="1" i="0">
                <a:solidFill>
                  <a:srgbClr val="2B7A6F"/>
                </a:solidFill>
                <a:latin typeface="Calibri"/>
              </a:rPr>
              <a:t>🌸  Imagery</a:t>
            </a:r>
          </a:p>
        </p:txBody>
      </p:sp>
      <p:sp>
        <p:nvSpPr>
          <p:cNvPr id="38" name="TextBox 37"/>
          <p:cNvSpPr txBox="1"/>
          <p:nvPr/>
        </p:nvSpPr>
        <p:spPr>
          <a:xfrm>
            <a:off x="9235440" y="5202936"/>
            <a:ext cx="2468880" cy="457200"/>
          </a:xfrm>
          <a:prstGeom prst="rect">
            <a:avLst/>
          </a:prstGeom>
          <a:noFill/>
        </p:spPr>
        <p:txBody>
          <a:bodyPr wrap="square">
            <a:spAutoFit/>
          </a:bodyPr>
          <a:lstStyle/>
          <a:p>
            <a:pPr algn="l"/>
            <a:r>
              <a:rPr sz="1300" b="0" i="0">
                <a:solidFill>
                  <a:srgbClr val="1A1A2E"/>
                </a:solidFill>
                <a:latin typeface="Calibri"/>
              </a:rPr>
              <a:t>Poetic &amp; symbolic imagery</a:t>
            </a:r>
          </a:p>
        </p:txBody>
      </p:sp>
      <p:sp>
        <p:nvSpPr>
          <p:cNvPr id="39" name="TextBox 38"/>
          <p:cNvSpPr txBox="1"/>
          <p:nvPr/>
        </p:nvSpPr>
        <p:spPr>
          <a:xfrm>
            <a:off x="7589520" y="5669280"/>
            <a:ext cx="1828800" cy="457200"/>
          </a:xfrm>
          <a:prstGeom prst="rect">
            <a:avLst/>
          </a:prstGeom>
          <a:noFill/>
        </p:spPr>
        <p:txBody>
          <a:bodyPr wrap="square">
            <a:spAutoFit/>
          </a:bodyPr>
          <a:lstStyle/>
          <a:p>
            <a:pPr algn="l"/>
            <a:r>
              <a:rPr sz="1400" b="1" i="0">
                <a:solidFill>
                  <a:srgbClr val="2B7A6F"/>
                </a:solidFill>
                <a:latin typeface="Calibri"/>
              </a:rPr>
              <a:t>📍  Sacred Places</a:t>
            </a:r>
          </a:p>
        </p:txBody>
      </p:sp>
      <p:sp>
        <p:nvSpPr>
          <p:cNvPr id="40" name="TextBox 39"/>
          <p:cNvSpPr txBox="1"/>
          <p:nvPr/>
        </p:nvSpPr>
        <p:spPr>
          <a:xfrm>
            <a:off x="9235440" y="5669280"/>
            <a:ext cx="2468880" cy="457200"/>
          </a:xfrm>
          <a:prstGeom prst="rect">
            <a:avLst/>
          </a:prstGeom>
          <a:noFill/>
        </p:spPr>
        <p:txBody>
          <a:bodyPr wrap="square">
            <a:spAutoFit/>
          </a:bodyPr>
          <a:lstStyle/>
          <a:p>
            <a:pPr algn="l"/>
            <a:r>
              <a:rPr sz="1300" b="0" i="0">
                <a:solidFill>
                  <a:srgbClr val="1A1A2E"/>
                </a:solidFill>
                <a:latin typeface="Calibri"/>
              </a:rPr>
              <a:t>Temples &amp; pilgrimage locations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Dataset Construction Pipeline</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From digital archive to structured knowledge graph</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pic>
        <p:nvPicPr>
          <p:cNvPr id="8" name="Picture 7" descr="pipeline.png"/>
          <p:cNvPicPr>
            <a:picLocks noChangeAspect="1"/>
          </p:cNvPicPr>
          <p:nvPr/>
        </p:nvPicPr>
        <p:blipFill>
          <a:blip r:embed="rId2"/>
          <a:stretch>
            <a:fillRect/>
          </a:stretch>
        </p:blipFill>
        <p:spPr>
          <a:xfrm>
            <a:off x="640080" y="1554480"/>
            <a:ext cx="10881360" cy="1920240"/>
          </a:xfrm>
          <a:prstGeom prst="rect">
            <a:avLst/>
          </a:prstGeom>
        </p:spPr>
      </p:pic>
      <p:sp>
        <p:nvSpPr>
          <p:cNvPr id="9" name="Rectangle 8"/>
          <p:cNvSpPr/>
          <p:nvPr/>
        </p:nvSpPr>
        <p:spPr>
          <a:xfrm>
            <a:off x="502920" y="3657600"/>
            <a:ext cx="2011680"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3703320"/>
            <a:ext cx="2011680" cy="365760"/>
          </a:xfrm>
          <a:prstGeom prst="rect">
            <a:avLst/>
          </a:prstGeom>
          <a:noFill/>
        </p:spPr>
        <p:txBody>
          <a:bodyPr wrap="square">
            <a:spAutoFit/>
          </a:bodyPr>
          <a:lstStyle/>
          <a:p>
            <a:pPr algn="ctr"/>
            <a:r>
              <a:rPr sz="1200" b="1" i="0">
                <a:solidFill>
                  <a:srgbClr val="C8A951"/>
                </a:solidFill>
                <a:latin typeface="Calibri"/>
              </a:rPr>
              <a:t>Step 1</a:t>
            </a:r>
          </a:p>
        </p:txBody>
      </p:sp>
      <p:sp>
        <p:nvSpPr>
          <p:cNvPr id="11" name="TextBox 10"/>
          <p:cNvSpPr txBox="1"/>
          <p:nvPr/>
        </p:nvSpPr>
        <p:spPr>
          <a:xfrm>
            <a:off x="502920" y="4023360"/>
            <a:ext cx="2011680" cy="822960"/>
          </a:xfrm>
          <a:prstGeom prst="rect">
            <a:avLst/>
          </a:prstGeom>
          <a:noFill/>
        </p:spPr>
        <p:txBody>
          <a:bodyPr wrap="square">
            <a:spAutoFit/>
          </a:bodyPr>
          <a:lstStyle/>
          <a:p>
            <a:pPr algn="ctr"/>
            <a:r>
              <a:rPr sz="1300" b="0" i="0">
                <a:solidFill>
                  <a:srgbClr val="FFFFFF"/>
                </a:solidFill>
                <a:latin typeface="Calibri"/>
              </a:rPr>
              <a:t>Digital Archive
(Kaumaram)</a:t>
            </a:r>
          </a:p>
        </p:txBody>
      </p:sp>
      <p:sp>
        <p:nvSpPr>
          <p:cNvPr id="12" name="Rectangle 11"/>
          <p:cNvSpPr/>
          <p:nvPr/>
        </p:nvSpPr>
        <p:spPr>
          <a:xfrm>
            <a:off x="2715768" y="3657600"/>
            <a:ext cx="2011680" cy="137160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15768" y="3703320"/>
            <a:ext cx="2011680" cy="365760"/>
          </a:xfrm>
          <a:prstGeom prst="rect">
            <a:avLst/>
          </a:prstGeom>
          <a:noFill/>
        </p:spPr>
        <p:txBody>
          <a:bodyPr wrap="square">
            <a:spAutoFit/>
          </a:bodyPr>
          <a:lstStyle/>
          <a:p>
            <a:pPr algn="ctr"/>
            <a:r>
              <a:rPr sz="1200" b="1" i="0">
                <a:solidFill>
                  <a:srgbClr val="C8A951"/>
                </a:solidFill>
                <a:latin typeface="Calibri"/>
              </a:rPr>
              <a:t>Step 2</a:t>
            </a:r>
          </a:p>
        </p:txBody>
      </p:sp>
      <p:sp>
        <p:nvSpPr>
          <p:cNvPr id="14" name="TextBox 13"/>
          <p:cNvSpPr txBox="1"/>
          <p:nvPr/>
        </p:nvSpPr>
        <p:spPr>
          <a:xfrm>
            <a:off x="2715768" y="4023360"/>
            <a:ext cx="2011680" cy="822960"/>
          </a:xfrm>
          <a:prstGeom prst="rect">
            <a:avLst/>
          </a:prstGeom>
          <a:noFill/>
        </p:spPr>
        <p:txBody>
          <a:bodyPr wrap="square">
            <a:spAutoFit/>
          </a:bodyPr>
          <a:lstStyle/>
          <a:p>
            <a:pPr algn="ctr"/>
            <a:r>
              <a:rPr sz="1300" b="0" i="0">
                <a:solidFill>
                  <a:srgbClr val="FFFFFF"/>
                </a:solidFill>
                <a:latin typeface="Calibri"/>
              </a:rPr>
              <a:t>Extract Tamil
Hymns &amp; Notes</a:t>
            </a:r>
          </a:p>
        </p:txBody>
      </p:sp>
      <p:sp>
        <p:nvSpPr>
          <p:cNvPr id="15" name="Rectangle 14"/>
          <p:cNvSpPr/>
          <p:nvPr/>
        </p:nvSpPr>
        <p:spPr>
          <a:xfrm>
            <a:off x="4928616" y="3657600"/>
            <a:ext cx="2011680" cy="1371600"/>
          </a:xfrm>
          <a:prstGeom prst="rect">
            <a:avLst/>
          </a:prstGeom>
          <a:solidFill>
            <a:srgbClr val="C07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28616" y="3703320"/>
            <a:ext cx="2011680" cy="365760"/>
          </a:xfrm>
          <a:prstGeom prst="rect">
            <a:avLst/>
          </a:prstGeom>
          <a:noFill/>
        </p:spPr>
        <p:txBody>
          <a:bodyPr wrap="square">
            <a:spAutoFit/>
          </a:bodyPr>
          <a:lstStyle/>
          <a:p>
            <a:pPr algn="ctr"/>
            <a:r>
              <a:rPr sz="1200" b="1" i="0">
                <a:solidFill>
                  <a:srgbClr val="C8A951"/>
                </a:solidFill>
                <a:latin typeface="Calibri"/>
              </a:rPr>
              <a:t>Step 3</a:t>
            </a:r>
          </a:p>
        </p:txBody>
      </p:sp>
      <p:sp>
        <p:nvSpPr>
          <p:cNvPr id="17" name="TextBox 16"/>
          <p:cNvSpPr txBox="1"/>
          <p:nvPr/>
        </p:nvSpPr>
        <p:spPr>
          <a:xfrm>
            <a:off x="4928616" y="4023360"/>
            <a:ext cx="2011680" cy="822960"/>
          </a:xfrm>
          <a:prstGeom prst="rect">
            <a:avLst/>
          </a:prstGeom>
          <a:noFill/>
        </p:spPr>
        <p:txBody>
          <a:bodyPr wrap="square">
            <a:spAutoFit/>
          </a:bodyPr>
          <a:lstStyle/>
          <a:p>
            <a:pPr algn="ctr"/>
            <a:r>
              <a:rPr sz="1300" b="0" i="0">
                <a:solidFill>
                  <a:srgbClr val="FFFFFF"/>
                </a:solidFill>
                <a:latin typeface="Calibri"/>
              </a:rPr>
              <a:t>Manual Text
Analysis</a:t>
            </a:r>
          </a:p>
        </p:txBody>
      </p:sp>
      <p:sp>
        <p:nvSpPr>
          <p:cNvPr id="18" name="Rectangle 17"/>
          <p:cNvSpPr/>
          <p:nvPr/>
        </p:nvSpPr>
        <p:spPr>
          <a:xfrm>
            <a:off x="7141464" y="3657600"/>
            <a:ext cx="2011680" cy="1371600"/>
          </a:xfrm>
          <a:prstGeom prst="rect">
            <a:avLst/>
          </a:prstGeom>
          <a:solidFill>
            <a:srgbClr val="B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41464" y="3703320"/>
            <a:ext cx="2011680" cy="365760"/>
          </a:xfrm>
          <a:prstGeom prst="rect">
            <a:avLst/>
          </a:prstGeom>
          <a:noFill/>
        </p:spPr>
        <p:txBody>
          <a:bodyPr wrap="square">
            <a:spAutoFit/>
          </a:bodyPr>
          <a:lstStyle/>
          <a:p>
            <a:pPr algn="ctr"/>
            <a:r>
              <a:rPr sz="1200" b="1" i="0">
                <a:solidFill>
                  <a:srgbClr val="C8A951"/>
                </a:solidFill>
                <a:latin typeface="Calibri"/>
              </a:rPr>
              <a:t>Step 4</a:t>
            </a:r>
          </a:p>
        </p:txBody>
      </p:sp>
      <p:sp>
        <p:nvSpPr>
          <p:cNvPr id="20" name="TextBox 19"/>
          <p:cNvSpPr txBox="1"/>
          <p:nvPr/>
        </p:nvSpPr>
        <p:spPr>
          <a:xfrm>
            <a:off x="7141464" y="4023360"/>
            <a:ext cx="2011680" cy="822960"/>
          </a:xfrm>
          <a:prstGeom prst="rect">
            <a:avLst/>
          </a:prstGeom>
          <a:noFill/>
        </p:spPr>
        <p:txBody>
          <a:bodyPr wrap="square">
            <a:spAutoFit/>
          </a:bodyPr>
          <a:lstStyle/>
          <a:p>
            <a:pPr algn="ctr"/>
            <a:r>
              <a:rPr sz="1300" b="0" i="0">
                <a:solidFill>
                  <a:srgbClr val="FFFFFF"/>
                </a:solidFill>
                <a:latin typeface="Calibri"/>
              </a:rPr>
              <a:t>Semantic
Annotation</a:t>
            </a:r>
          </a:p>
        </p:txBody>
      </p:sp>
      <p:sp>
        <p:nvSpPr>
          <p:cNvPr id="21" name="Rectangle 20"/>
          <p:cNvSpPr/>
          <p:nvPr/>
        </p:nvSpPr>
        <p:spPr>
          <a:xfrm>
            <a:off x="9354312" y="3657600"/>
            <a:ext cx="2011680" cy="1371600"/>
          </a:xfrm>
          <a:prstGeom prst="rect">
            <a:avLst/>
          </a:prstGeom>
          <a:solidFill>
            <a:srgbClr val="2B6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54312" y="3703320"/>
            <a:ext cx="2011680" cy="365760"/>
          </a:xfrm>
          <a:prstGeom prst="rect">
            <a:avLst/>
          </a:prstGeom>
          <a:noFill/>
        </p:spPr>
        <p:txBody>
          <a:bodyPr wrap="square">
            <a:spAutoFit/>
          </a:bodyPr>
          <a:lstStyle/>
          <a:p>
            <a:pPr algn="ctr"/>
            <a:r>
              <a:rPr sz="1200" b="1" i="0">
                <a:solidFill>
                  <a:srgbClr val="C8A951"/>
                </a:solidFill>
                <a:latin typeface="Calibri"/>
              </a:rPr>
              <a:t>Step 5</a:t>
            </a:r>
          </a:p>
        </p:txBody>
      </p:sp>
      <p:sp>
        <p:nvSpPr>
          <p:cNvPr id="23" name="TextBox 22"/>
          <p:cNvSpPr txBox="1"/>
          <p:nvPr/>
        </p:nvSpPr>
        <p:spPr>
          <a:xfrm>
            <a:off x="9354312" y="4023360"/>
            <a:ext cx="2011680" cy="822960"/>
          </a:xfrm>
          <a:prstGeom prst="rect">
            <a:avLst/>
          </a:prstGeom>
          <a:noFill/>
        </p:spPr>
        <p:txBody>
          <a:bodyPr wrap="square">
            <a:spAutoFit/>
          </a:bodyPr>
          <a:lstStyle/>
          <a:p>
            <a:pPr algn="ctr"/>
            <a:r>
              <a:rPr sz="1300" b="0" i="0">
                <a:solidFill>
                  <a:srgbClr val="FFFFFF"/>
                </a:solidFill>
                <a:latin typeface="Calibri"/>
              </a:rPr>
              <a:t>Structured
JSON Dataset</a:t>
            </a:r>
          </a:p>
        </p:txBody>
      </p:sp>
      <p:sp>
        <p:nvSpPr>
          <p:cNvPr id="24" name="Rectangle 23"/>
          <p:cNvSpPr/>
          <p:nvPr/>
        </p:nvSpPr>
        <p:spPr>
          <a:xfrm>
            <a:off x="365760" y="5212080"/>
            <a:ext cx="11430000" cy="100584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 y="5212080"/>
            <a:ext cx="64008" cy="10058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5303520"/>
            <a:ext cx="11064240" cy="822960"/>
          </a:xfrm>
          <a:prstGeom prst="rect">
            <a:avLst/>
          </a:prstGeom>
          <a:noFill/>
        </p:spPr>
        <p:txBody>
          <a:bodyPr wrap="square">
            <a:spAutoFit/>
          </a:bodyPr>
          <a:lstStyle/>
          <a:p>
            <a:pPr algn="l"/>
            <a:r>
              <a:rPr sz="1500" b="0" i="1">
                <a:solidFill>
                  <a:srgbClr val="1B2A4A"/>
                </a:solidFill>
                <a:latin typeface="Calibri"/>
              </a:rPr>
              <a:t>Each of 1,335 hymns was manually reviewed and annotated with: entities · themes · mythological events · philosophy · imagery · sacred places. Inter-annotator agreement was measured using Cohen's Kappa (κ).</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Knowledge Graph Schema</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Song nodes connect to six semantic node types via typed edges</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pic>
        <p:nvPicPr>
          <p:cNvPr id="8" name="Picture 7" descr="visualisation.png"/>
          <p:cNvPicPr>
            <a:picLocks noChangeAspect="1"/>
          </p:cNvPicPr>
          <p:nvPr/>
        </p:nvPicPr>
        <p:blipFill>
          <a:blip r:embed="rId2"/>
          <a:stretch>
            <a:fillRect/>
          </a:stretch>
        </p:blipFill>
        <p:spPr>
          <a:xfrm>
            <a:off x="182880" y="1417320"/>
            <a:ext cx="5669280" cy="5074920"/>
          </a:xfrm>
          <a:prstGeom prst="rect">
            <a:avLst/>
          </a:prstGeom>
        </p:spPr>
      </p:pic>
      <p:sp>
        <p:nvSpPr>
          <p:cNvPr id="9" name="TextBox 8"/>
          <p:cNvSpPr txBox="1"/>
          <p:nvPr/>
        </p:nvSpPr>
        <p:spPr>
          <a:xfrm>
            <a:off x="6126480" y="1508760"/>
            <a:ext cx="5760720" cy="457200"/>
          </a:xfrm>
          <a:prstGeom prst="rect">
            <a:avLst/>
          </a:prstGeom>
          <a:noFill/>
        </p:spPr>
        <p:txBody>
          <a:bodyPr wrap="square">
            <a:spAutoFit/>
          </a:bodyPr>
          <a:lstStyle/>
          <a:p>
            <a:pPr algn="l"/>
            <a:r>
              <a:rPr sz="2200" b="1" i="0">
                <a:solidFill>
                  <a:srgbClr val="1B2A4A"/>
                </a:solidFill>
                <a:latin typeface="Calibri"/>
              </a:rPr>
              <a:t>Relationship Types</a:t>
            </a:r>
          </a:p>
        </p:txBody>
      </p:sp>
      <p:sp>
        <p:nvSpPr>
          <p:cNvPr id="10" name="Rectangle 9"/>
          <p:cNvSpPr/>
          <p:nvPr/>
        </p:nvSpPr>
        <p:spPr>
          <a:xfrm>
            <a:off x="6126480" y="1965960"/>
            <a:ext cx="5577840"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2011680"/>
            <a:ext cx="2377440" cy="38404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81344" y="2048256"/>
            <a:ext cx="2377440" cy="347472"/>
          </a:xfrm>
          <a:prstGeom prst="rect">
            <a:avLst/>
          </a:prstGeom>
          <a:noFill/>
        </p:spPr>
        <p:txBody>
          <a:bodyPr wrap="square">
            <a:spAutoFit/>
          </a:bodyPr>
          <a:lstStyle/>
          <a:p>
            <a:pPr algn="l"/>
            <a:r>
              <a:rPr sz="1300" b="1" i="0">
                <a:solidFill>
                  <a:srgbClr val="FFFFFF"/>
                </a:solidFill>
                <a:latin typeface="Calibri"/>
              </a:rPr>
              <a:t>Relationship</a:t>
            </a:r>
          </a:p>
        </p:txBody>
      </p:sp>
      <p:sp>
        <p:nvSpPr>
          <p:cNvPr id="13" name="Rectangle 12"/>
          <p:cNvSpPr/>
          <p:nvPr/>
        </p:nvSpPr>
        <p:spPr>
          <a:xfrm>
            <a:off x="8549640" y="2011680"/>
            <a:ext cx="822960" cy="38404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04504" y="2048256"/>
            <a:ext cx="822960" cy="347472"/>
          </a:xfrm>
          <a:prstGeom prst="rect">
            <a:avLst/>
          </a:prstGeom>
          <a:noFill/>
        </p:spPr>
        <p:txBody>
          <a:bodyPr wrap="square">
            <a:spAutoFit/>
          </a:bodyPr>
          <a:lstStyle/>
          <a:p>
            <a:pPr algn="l"/>
            <a:r>
              <a:rPr sz="1300" b="1" i="0">
                <a:solidFill>
                  <a:srgbClr val="FFFFFF"/>
                </a:solidFill>
                <a:latin typeface="Calibri"/>
              </a:rPr>
              <a:t>Count</a:t>
            </a:r>
          </a:p>
        </p:txBody>
      </p:sp>
      <p:sp>
        <p:nvSpPr>
          <p:cNvPr id="15" name="Rectangle 14"/>
          <p:cNvSpPr/>
          <p:nvPr/>
        </p:nvSpPr>
        <p:spPr>
          <a:xfrm>
            <a:off x="9372600" y="2011680"/>
            <a:ext cx="2377440" cy="38404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27464" y="2048256"/>
            <a:ext cx="2377440" cy="347472"/>
          </a:xfrm>
          <a:prstGeom prst="rect">
            <a:avLst/>
          </a:prstGeom>
          <a:noFill/>
        </p:spPr>
        <p:txBody>
          <a:bodyPr wrap="square">
            <a:spAutoFit/>
          </a:bodyPr>
          <a:lstStyle/>
          <a:p>
            <a:pPr algn="l"/>
            <a:r>
              <a:rPr sz="1300" b="1" i="0">
                <a:solidFill>
                  <a:srgbClr val="FFFFFF"/>
                </a:solidFill>
                <a:latin typeface="Calibri"/>
              </a:rPr>
              <a:t>Meaning</a:t>
            </a:r>
          </a:p>
        </p:txBody>
      </p:sp>
      <p:sp>
        <p:nvSpPr>
          <p:cNvPr id="17" name="Rectangle 16"/>
          <p:cNvSpPr/>
          <p:nvPr/>
        </p:nvSpPr>
        <p:spPr>
          <a:xfrm>
            <a:off x="6126480" y="2395728"/>
            <a:ext cx="5577840" cy="493776"/>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9632" y="2468880"/>
            <a:ext cx="2286000" cy="365760"/>
          </a:xfrm>
          <a:prstGeom prst="rect">
            <a:avLst/>
          </a:prstGeom>
          <a:noFill/>
        </p:spPr>
        <p:txBody>
          <a:bodyPr wrap="square">
            <a:spAutoFit/>
          </a:bodyPr>
          <a:lstStyle/>
          <a:p>
            <a:pPr algn="l"/>
            <a:r>
              <a:rPr sz="1200" b="1" i="0">
                <a:solidFill>
                  <a:srgbClr val="2B7A6F"/>
                </a:solidFill>
                <a:latin typeface="Calibri"/>
              </a:rPr>
              <a:t>MENTIONS_ENTITY</a:t>
            </a:r>
          </a:p>
        </p:txBody>
      </p:sp>
      <p:sp>
        <p:nvSpPr>
          <p:cNvPr id="19" name="TextBox 18"/>
          <p:cNvSpPr txBox="1"/>
          <p:nvPr/>
        </p:nvSpPr>
        <p:spPr>
          <a:xfrm>
            <a:off x="8549640" y="2468880"/>
            <a:ext cx="777240" cy="365760"/>
          </a:xfrm>
          <a:prstGeom prst="rect">
            <a:avLst/>
          </a:prstGeom>
          <a:noFill/>
        </p:spPr>
        <p:txBody>
          <a:bodyPr wrap="square">
            <a:spAutoFit/>
          </a:bodyPr>
          <a:lstStyle/>
          <a:p>
            <a:pPr algn="ctr"/>
            <a:r>
              <a:rPr sz="1300" b="1" i="0">
                <a:solidFill>
                  <a:srgbClr val="1B2A4A"/>
                </a:solidFill>
                <a:latin typeface="Calibri"/>
              </a:rPr>
              <a:t>8,564</a:t>
            </a:r>
          </a:p>
        </p:txBody>
      </p:sp>
      <p:sp>
        <p:nvSpPr>
          <p:cNvPr id="20" name="TextBox 19"/>
          <p:cNvSpPr txBox="1"/>
          <p:nvPr/>
        </p:nvSpPr>
        <p:spPr>
          <a:xfrm>
            <a:off x="9372600" y="2468880"/>
            <a:ext cx="2286000" cy="365760"/>
          </a:xfrm>
          <a:prstGeom prst="rect">
            <a:avLst/>
          </a:prstGeom>
          <a:noFill/>
        </p:spPr>
        <p:txBody>
          <a:bodyPr wrap="square">
            <a:spAutoFit/>
          </a:bodyPr>
          <a:lstStyle/>
          <a:p>
            <a:pPr algn="l"/>
            <a:r>
              <a:rPr sz="1200" b="0" i="0">
                <a:solidFill>
                  <a:srgbClr val="1A1A2E"/>
                </a:solidFill>
                <a:latin typeface="Calibri"/>
              </a:rPr>
              <a:t>Song → Entity (deity / person)</a:t>
            </a:r>
          </a:p>
        </p:txBody>
      </p:sp>
      <p:sp>
        <p:nvSpPr>
          <p:cNvPr id="21" name="Rectangle 20"/>
          <p:cNvSpPr/>
          <p:nvPr/>
        </p:nvSpPr>
        <p:spPr>
          <a:xfrm>
            <a:off x="6126480" y="2889504"/>
            <a:ext cx="55778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99632" y="2962656"/>
            <a:ext cx="2286000" cy="365760"/>
          </a:xfrm>
          <a:prstGeom prst="rect">
            <a:avLst/>
          </a:prstGeom>
          <a:noFill/>
        </p:spPr>
        <p:txBody>
          <a:bodyPr wrap="square">
            <a:spAutoFit/>
          </a:bodyPr>
          <a:lstStyle/>
          <a:p>
            <a:pPr algn="l"/>
            <a:r>
              <a:rPr sz="1200" b="1" i="0">
                <a:solidFill>
                  <a:srgbClr val="2B7A6F"/>
                </a:solidFill>
                <a:latin typeface="Calibri"/>
              </a:rPr>
              <a:t>USES_IMAGERY</a:t>
            </a:r>
          </a:p>
        </p:txBody>
      </p:sp>
      <p:sp>
        <p:nvSpPr>
          <p:cNvPr id="23" name="TextBox 22"/>
          <p:cNvSpPr txBox="1"/>
          <p:nvPr/>
        </p:nvSpPr>
        <p:spPr>
          <a:xfrm>
            <a:off x="8549640" y="2962656"/>
            <a:ext cx="777240" cy="365760"/>
          </a:xfrm>
          <a:prstGeom prst="rect">
            <a:avLst/>
          </a:prstGeom>
          <a:noFill/>
        </p:spPr>
        <p:txBody>
          <a:bodyPr wrap="square">
            <a:spAutoFit/>
          </a:bodyPr>
          <a:lstStyle/>
          <a:p>
            <a:pPr algn="ctr"/>
            <a:r>
              <a:rPr sz="1300" b="1" i="0">
                <a:solidFill>
                  <a:srgbClr val="1B2A4A"/>
                </a:solidFill>
                <a:latin typeface="Calibri"/>
              </a:rPr>
              <a:t>6,166</a:t>
            </a:r>
          </a:p>
        </p:txBody>
      </p:sp>
      <p:sp>
        <p:nvSpPr>
          <p:cNvPr id="24" name="TextBox 23"/>
          <p:cNvSpPr txBox="1"/>
          <p:nvPr/>
        </p:nvSpPr>
        <p:spPr>
          <a:xfrm>
            <a:off x="9372600" y="2962656"/>
            <a:ext cx="2286000" cy="365760"/>
          </a:xfrm>
          <a:prstGeom prst="rect">
            <a:avLst/>
          </a:prstGeom>
          <a:noFill/>
        </p:spPr>
        <p:txBody>
          <a:bodyPr wrap="square">
            <a:spAutoFit/>
          </a:bodyPr>
          <a:lstStyle/>
          <a:p>
            <a:pPr algn="l"/>
            <a:r>
              <a:rPr sz="1200" b="0" i="0">
                <a:solidFill>
                  <a:srgbClr val="1A1A2E"/>
                </a:solidFill>
                <a:latin typeface="Calibri"/>
              </a:rPr>
              <a:t>Song → Imagery (poetic symbol)</a:t>
            </a:r>
          </a:p>
        </p:txBody>
      </p:sp>
      <p:sp>
        <p:nvSpPr>
          <p:cNvPr id="25" name="Rectangle 24"/>
          <p:cNvSpPr/>
          <p:nvPr/>
        </p:nvSpPr>
        <p:spPr>
          <a:xfrm>
            <a:off x="6126480" y="3383280"/>
            <a:ext cx="5577840" cy="493776"/>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99632" y="3456432"/>
            <a:ext cx="2286000" cy="365760"/>
          </a:xfrm>
          <a:prstGeom prst="rect">
            <a:avLst/>
          </a:prstGeom>
          <a:noFill/>
        </p:spPr>
        <p:txBody>
          <a:bodyPr wrap="square">
            <a:spAutoFit/>
          </a:bodyPr>
          <a:lstStyle/>
          <a:p>
            <a:pPr algn="l"/>
            <a:r>
              <a:rPr sz="1200" b="1" i="0">
                <a:solidFill>
                  <a:srgbClr val="2B7A6F"/>
                </a:solidFill>
                <a:latin typeface="Calibri"/>
              </a:rPr>
              <a:t>HAS_THEME</a:t>
            </a:r>
          </a:p>
        </p:txBody>
      </p:sp>
      <p:sp>
        <p:nvSpPr>
          <p:cNvPr id="27" name="TextBox 26"/>
          <p:cNvSpPr txBox="1"/>
          <p:nvPr/>
        </p:nvSpPr>
        <p:spPr>
          <a:xfrm>
            <a:off x="8549640" y="3456432"/>
            <a:ext cx="777240" cy="365760"/>
          </a:xfrm>
          <a:prstGeom prst="rect">
            <a:avLst/>
          </a:prstGeom>
          <a:noFill/>
        </p:spPr>
        <p:txBody>
          <a:bodyPr wrap="square">
            <a:spAutoFit/>
          </a:bodyPr>
          <a:lstStyle/>
          <a:p>
            <a:pPr algn="ctr"/>
            <a:r>
              <a:rPr sz="1300" b="1" i="0">
                <a:solidFill>
                  <a:srgbClr val="1B2A4A"/>
                </a:solidFill>
                <a:latin typeface="Calibri"/>
              </a:rPr>
              <a:t>5,544</a:t>
            </a:r>
          </a:p>
        </p:txBody>
      </p:sp>
      <p:sp>
        <p:nvSpPr>
          <p:cNvPr id="28" name="TextBox 27"/>
          <p:cNvSpPr txBox="1"/>
          <p:nvPr/>
        </p:nvSpPr>
        <p:spPr>
          <a:xfrm>
            <a:off x="9372600" y="3456432"/>
            <a:ext cx="2286000" cy="365760"/>
          </a:xfrm>
          <a:prstGeom prst="rect">
            <a:avLst/>
          </a:prstGeom>
          <a:noFill/>
        </p:spPr>
        <p:txBody>
          <a:bodyPr wrap="square">
            <a:spAutoFit/>
          </a:bodyPr>
          <a:lstStyle/>
          <a:p>
            <a:pPr algn="l"/>
            <a:r>
              <a:rPr sz="1200" b="0" i="0">
                <a:solidFill>
                  <a:srgbClr val="1A1A2E"/>
                </a:solidFill>
                <a:latin typeface="Calibri"/>
              </a:rPr>
              <a:t>Song → Theme (devotional concept)</a:t>
            </a:r>
          </a:p>
        </p:txBody>
      </p:sp>
      <p:sp>
        <p:nvSpPr>
          <p:cNvPr id="29" name="Rectangle 28"/>
          <p:cNvSpPr/>
          <p:nvPr/>
        </p:nvSpPr>
        <p:spPr>
          <a:xfrm>
            <a:off x="6126480" y="3877056"/>
            <a:ext cx="55778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99632" y="3950208"/>
            <a:ext cx="2286000" cy="365760"/>
          </a:xfrm>
          <a:prstGeom prst="rect">
            <a:avLst/>
          </a:prstGeom>
          <a:noFill/>
        </p:spPr>
        <p:txBody>
          <a:bodyPr wrap="square">
            <a:spAutoFit/>
          </a:bodyPr>
          <a:lstStyle/>
          <a:p>
            <a:pPr algn="l"/>
            <a:r>
              <a:rPr sz="1200" b="1" i="0">
                <a:solidFill>
                  <a:srgbClr val="2B7A6F"/>
                </a:solidFill>
                <a:latin typeface="Calibri"/>
              </a:rPr>
              <a:t>HAS_PHILOSOPHY</a:t>
            </a:r>
          </a:p>
        </p:txBody>
      </p:sp>
      <p:sp>
        <p:nvSpPr>
          <p:cNvPr id="31" name="TextBox 30"/>
          <p:cNvSpPr txBox="1"/>
          <p:nvPr/>
        </p:nvSpPr>
        <p:spPr>
          <a:xfrm>
            <a:off x="8549640" y="3950208"/>
            <a:ext cx="777240" cy="365760"/>
          </a:xfrm>
          <a:prstGeom prst="rect">
            <a:avLst/>
          </a:prstGeom>
          <a:noFill/>
        </p:spPr>
        <p:txBody>
          <a:bodyPr wrap="square">
            <a:spAutoFit/>
          </a:bodyPr>
          <a:lstStyle/>
          <a:p>
            <a:pPr algn="ctr"/>
            <a:r>
              <a:rPr sz="1300" b="1" i="0">
                <a:solidFill>
                  <a:srgbClr val="1B2A4A"/>
                </a:solidFill>
                <a:latin typeface="Calibri"/>
              </a:rPr>
              <a:t>4,104</a:t>
            </a:r>
          </a:p>
        </p:txBody>
      </p:sp>
      <p:sp>
        <p:nvSpPr>
          <p:cNvPr id="32" name="TextBox 31"/>
          <p:cNvSpPr txBox="1"/>
          <p:nvPr/>
        </p:nvSpPr>
        <p:spPr>
          <a:xfrm>
            <a:off x="9372600" y="3950208"/>
            <a:ext cx="2286000" cy="365760"/>
          </a:xfrm>
          <a:prstGeom prst="rect">
            <a:avLst/>
          </a:prstGeom>
          <a:noFill/>
        </p:spPr>
        <p:txBody>
          <a:bodyPr wrap="square">
            <a:spAutoFit/>
          </a:bodyPr>
          <a:lstStyle/>
          <a:p>
            <a:pPr algn="l"/>
            <a:r>
              <a:rPr sz="1200" b="0" i="0">
                <a:solidFill>
                  <a:srgbClr val="1A1A2E"/>
                </a:solidFill>
                <a:latin typeface="Calibri"/>
              </a:rPr>
              <a:t>Song → Philosophy (spiritual idea)</a:t>
            </a:r>
          </a:p>
        </p:txBody>
      </p:sp>
      <p:sp>
        <p:nvSpPr>
          <p:cNvPr id="33" name="Rectangle 32"/>
          <p:cNvSpPr/>
          <p:nvPr/>
        </p:nvSpPr>
        <p:spPr>
          <a:xfrm>
            <a:off x="6126480" y="4370832"/>
            <a:ext cx="5577840" cy="493776"/>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99632" y="4443984"/>
            <a:ext cx="2286000" cy="365760"/>
          </a:xfrm>
          <a:prstGeom prst="rect">
            <a:avLst/>
          </a:prstGeom>
          <a:noFill/>
        </p:spPr>
        <p:txBody>
          <a:bodyPr wrap="square">
            <a:spAutoFit/>
          </a:bodyPr>
          <a:lstStyle/>
          <a:p>
            <a:pPr algn="l"/>
            <a:r>
              <a:rPr sz="1200" b="1" i="0">
                <a:solidFill>
                  <a:srgbClr val="2B7A6F"/>
                </a:solidFill>
                <a:latin typeface="Calibri"/>
              </a:rPr>
              <a:t>REFERS_TO_EVENT</a:t>
            </a:r>
          </a:p>
        </p:txBody>
      </p:sp>
      <p:sp>
        <p:nvSpPr>
          <p:cNvPr id="35" name="TextBox 34"/>
          <p:cNvSpPr txBox="1"/>
          <p:nvPr/>
        </p:nvSpPr>
        <p:spPr>
          <a:xfrm>
            <a:off x="8549640" y="4443984"/>
            <a:ext cx="777240" cy="365760"/>
          </a:xfrm>
          <a:prstGeom prst="rect">
            <a:avLst/>
          </a:prstGeom>
          <a:noFill/>
        </p:spPr>
        <p:txBody>
          <a:bodyPr wrap="square">
            <a:spAutoFit/>
          </a:bodyPr>
          <a:lstStyle/>
          <a:p>
            <a:pPr algn="ctr"/>
            <a:r>
              <a:rPr sz="1300" b="1" i="0">
                <a:solidFill>
                  <a:srgbClr val="1B2A4A"/>
                </a:solidFill>
                <a:latin typeface="Calibri"/>
              </a:rPr>
              <a:t>2,515</a:t>
            </a:r>
          </a:p>
        </p:txBody>
      </p:sp>
      <p:sp>
        <p:nvSpPr>
          <p:cNvPr id="36" name="TextBox 35"/>
          <p:cNvSpPr txBox="1"/>
          <p:nvPr/>
        </p:nvSpPr>
        <p:spPr>
          <a:xfrm>
            <a:off x="9372600" y="4443984"/>
            <a:ext cx="2286000" cy="365760"/>
          </a:xfrm>
          <a:prstGeom prst="rect">
            <a:avLst/>
          </a:prstGeom>
          <a:noFill/>
        </p:spPr>
        <p:txBody>
          <a:bodyPr wrap="square">
            <a:spAutoFit/>
          </a:bodyPr>
          <a:lstStyle/>
          <a:p>
            <a:pPr algn="l"/>
            <a:r>
              <a:rPr sz="1200" b="0" i="0">
                <a:solidFill>
                  <a:srgbClr val="1A1A2E"/>
                </a:solidFill>
                <a:latin typeface="Calibri"/>
              </a:rPr>
              <a:t>Song → MythEvent (battle / story)</a:t>
            </a:r>
          </a:p>
        </p:txBody>
      </p:sp>
      <p:sp>
        <p:nvSpPr>
          <p:cNvPr id="37" name="Rectangle 36"/>
          <p:cNvSpPr/>
          <p:nvPr/>
        </p:nvSpPr>
        <p:spPr>
          <a:xfrm>
            <a:off x="6126480" y="4864608"/>
            <a:ext cx="5577840"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99632" y="4937760"/>
            <a:ext cx="2286000" cy="365760"/>
          </a:xfrm>
          <a:prstGeom prst="rect">
            <a:avLst/>
          </a:prstGeom>
          <a:noFill/>
        </p:spPr>
        <p:txBody>
          <a:bodyPr wrap="square">
            <a:spAutoFit/>
          </a:bodyPr>
          <a:lstStyle/>
          <a:p>
            <a:pPr algn="l"/>
            <a:r>
              <a:rPr sz="1200" b="1" i="0">
                <a:solidFill>
                  <a:srgbClr val="2B7A6F"/>
                </a:solidFill>
                <a:latin typeface="Calibri"/>
              </a:rPr>
              <a:t>LOCATED_AT</a:t>
            </a:r>
          </a:p>
        </p:txBody>
      </p:sp>
      <p:sp>
        <p:nvSpPr>
          <p:cNvPr id="39" name="TextBox 38"/>
          <p:cNvSpPr txBox="1"/>
          <p:nvPr/>
        </p:nvSpPr>
        <p:spPr>
          <a:xfrm>
            <a:off x="8549640" y="4937760"/>
            <a:ext cx="777240" cy="365760"/>
          </a:xfrm>
          <a:prstGeom prst="rect">
            <a:avLst/>
          </a:prstGeom>
          <a:noFill/>
        </p:spPr>
        <p:txBody>
          <a:bodyPr wrap="square">
            <a:spAutoFit/>
          </a:bodyPr>
          <a:lstStyle/>
          <a:p>
            <a:pPr algn="ctr"/>
            <a:r>
              <a:rPr sz="1300" b="1" i="0">
                <a:solidFill>
                  <a:srgbClr val="1B2A4A"/>
                </a:solidFill>
                <a:latin typeface="Calibri"/>
              </a:rPr>
              <a:t>1,335</a:t>
            </a:r>
          </a:p>
        </p:txBody>
      </p:sp>
      <p:sp>
        <p:nvSpPr>
          <p:cNvPr id="40" name="TextBox 39"/>
          <p:cNvSpPr txBox="1"/>
          <p:nvPr/>
        </p:nvSpPr>
        <p:spPr>
          <a:xfrm>
            <a:off x="9372600" y="4937760"/>
            <a:ext cx="2286000" cy="365760"/>
          </a:xfrm>
          <a:prstGeom prst="rect">
            <a:avLst/>
          </a:prstGeom>
          <a:noFill/>
        </p:spPr>
        <p:txBody>
          <a:bodyPr wrap="square">
            <a:spAutoFit/>
          </a:bodyPr>
          <a:lstStyle/>
          <a:p>
            <a:pPr algn="l"/>
            <a:r>
              <a:rPr sz="1200" b="0" i="0">
                <a:solidFill>
                  <a:srgbClr val="1A1A2E"/>
                </a:solidFill>
                <a:latin typeface="Calibri"/>
              </a:rPr>
              <a:t>Song → Place (temple / location)</a:t>
            </a:r>
          </a:p>
        </p:txBody>
      </p:sp>
      <p:sp>
        <p:nvSpPr>
          <p:cNvPr id="41" name="Rectangle 40"/>
          <p:cNvSpPr/>
          <p:nvPr/>
        </p:nvSpPr>
        <p:spPr>
          <a:xfrm>
            <a:off x="6126480" y="5358384"/>
            <a:ext cx="5577840" cy="420624"/>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99632" y="5394960"/>
            <a:ext cx="2286000" cy="365760"/>
          </a:xfrm>
          <a:prstGeom prst="rect">
            <a:avLst/>
          </a:prstGeom>
          <a:noFill/>
        </p:spPr>
        <p:txBody>
          <a:bodyPr wrap="square">
            <a:spAutoFit/>
          </a:bodyPr>
          <a:lstStyle/>
          <a:p>
            <a:pPr algn="l"/>
            <a:r>
              <a:rPr sz="1300" b="1" i="0">
                <a:solidFill>
                  <a:srgbClr val="1B2A4A"/>
                </a:solidFill>
                <a:latin typeface="Calibri"/>
              </a:rPr>
              <a:t>TOTAL EDGES</a:t>
            </a:r>
          </a:p>
        </p:txBody>
      </p:sp>
      <p:sp>
        <p:nvSpPr>
          <p:cNvPr id="43" name="TextBox 42"/>
          <p:cNvSpPr txBox="1"/>
          <p:nvPr/>
        </p:nvSpPr>
        <p:spPr>
          <a:xfrm>
            <a:off x="8549640" y="5394960"/>
            <a:ext cx="777240" cy="365760"/>
          </a:xfrm>
          <a:prstGeom prst="rect">
            <a:avLst/>
          </a:prstGeom>
          <a:noFill/>
        </p:spPr>
        <p:txBody>
          <a:bodyPr wrap="square">
            <a:spAutoFit/>
          </a:bodyPr>
          <a:lstStyle/>
          <a:p>
            <a:pPr algn="ctr"/>
            <a:r>
              <a:rPr sz="1300" b="1" i="0">
                <a:solidFill>
                  <a:srgbClr val="1B2A4A"/>
                </a:solidFill>
                <a:latin typeface="Calibri"/>
              </a:rPr>
              <a:t>28,228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Dataset at a Glance</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Key statistics of the Thiruppugazh-KG</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sp>
        <p:nvSpPr>
          <p:cNvPr id="8" name="Rectangle 7"/>
          <p:cNvSpPr/>
          <p:nvPr/>
        </p:nvSpPr>
        <p:spPr>
          <a:xfrm>
            <a:off x="365760" y="1508760"/>
            <a:ext cx="2148840"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600200"/>
            <a:ext cx="2148840" cy="594360"/>
          </a:xfrm>
          <a:prstGeom prst="rect">
            <a:avLst/>
          </a:prstGeom>
          <a:noFill/>
        </p:spPr>
        <p:txBody>
          <a:bodyPr wrap="square">
            <a:spAutoFit/>
          </a:bodyPr>
          <a:lstStyle/>
          <a:p>
            <a:pPr algn="ctr"/>
            <a:r>
              <a:rPr sz="3600" b="1" i="0">
                <a:solidFill>
                  <a:srgbClr val="C8A951"/>
                </a:solidFill>
                <a:latin typeface="Calibri"/>
              </a:rPr>
              <a:t>1,335</a:t>
            </a:r>
          </a:p>
        </p:txBody>
      </p:sp>
      <p:sp>
        <p:nvSpPr>
          <p:cNvPr id="10" name="TextBox 9"/>
          <p:cNvSpPr txBox="1"/>
          <p:nvPr/>
        </p:nvSpPr>
        <p:spPr>
          <a:xfrm>
            <a:off x="365760" y="2103120"/>
            <a:ext cx="2148840" cy="365760"/>
          </a:xfrm>
          <a:prstGeom prst="rect">
            <a:avLst/>
          </a:prstGeom>
          <a:noFill/>
        </p:spPr>
        <p:txBody>
          <a:bodyPr wrap="square">
            <a:spAutoFit/>
          </a:bodyPr>
          <a:lstStyle/>
          <a:p>
            <a:pPr algn="ctr"/>
            <a:r>
              <a:rPr sz="1300" b="0" i="0">
                <a:solidFill>
                  <a:srgbClr val="FFFFFF"/>
                </a:solidFill>
                <a:latin typeface="Calibri"/>
              </a:rPr>
              <a:t>Hymns Annotated</a:t>
            </a:r>
          </a:p>
        </p:txBody>
      </p:sp>
      <p:sp>
        <p:nvSpPr>
          <p:cNvPr id="11" name="Rectangle 10"/>
          <p:cNvSpPr/>
          <p:nvPr/>
        </p:nvSpPr>
        <p:spPr>
          <a:xfrm>
            <a:off x="2683764" y="1508760"/>
            <a:ext cx="2148840"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83764" y="1600200"/>
            <a:ext cx="2148840" cy="594360"/>
          </a:xfrm>
          <a:prstGeom prst="rect">
            <a:avLst/>
          </a:prstGeom>
          <a:noFill/>
        </p:spPr>
        <p:txBody>
          <a:bodyPr wrap="square">
            <a:spAutoFit/>
          </a:bodyPr>
          <a:lstStyle/>
          <a:p>
            <a:pPr algn="ctr"/>
            <a:r>
              <a:rPr sz="3600" b="1" i="0">
                <a:solidFill>
                  <a:srgbClr val="C8A951"/>
                </a:solidFill>
                <a:latin typeface="Calibri"/>
              </a:rPr>
              <a:t>11,992</a:t>
            </a:r>
          </a:p>
        </p:txBody>
      </p:sp>
      <p:sp>
        <p:nvSpPr>
          <p:cNvPr id="13" name="TextBox 12"/>
          <p:cNvSpPr txBox="1"/>
          <p:nvPr/>
        </p:nvSpPr>
        <p:spPr>
          <a:xfrm>
            <a:off x="2683764" y="2103120"/>
            <a:ext cx="2148840" cy="365760"/>
          </a:xfrm>
          <a:prstGeom prst="rect">
            <a:avLst/>
          </a:prstGeom>
          <a:noFill/>
        </p:spPr>
        <p:txBody>
          <a:bodyPr wrap="square">
            <a:spAutoFit/>
          </a:bodyPr>
          <a:lstStyle/>
          <a:p>
            <a:pPr algn="ctr"/>
            <a:r>
              <a:rPr sz="1300" b="0" i="0">
                <a:solidFill>
                  <a:srgbClr val="FFFFFF"/>
                </a:solidFill>
                <a:latin typeface="Calibri"/>
              </a:rPr>
              <a:t>KG Nodes</a:t>
            </a:r>
          </a:p>
        </p:txBody>
      </p:sp>
      <p:sp>
        <p:nvSpPr>
          <p:cNvPr id="14" name="Rectangle 13"/>
          <p:cNvSpPr/>
          <p:nvPr/>
        </p:nvSpPr>
        <p:spPr>
          <a:xfrm>
            <a:off x="5001768" y="1508760"/>
            <a:ext cx="2148840"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01768" y="1600200"/>
            <a:ext cx="2148840" cy="594360"/>
          </a:xfrm>
          <a:prstGeom prst="rect">
            <a:avLst/>
          </a:prstGeom>
          <a:noFill/>
        </p:spPr>
        <p:txBody>
          <a:bodyPr wrap="square">
            <a:spAutoFit/>
          </a:bodyPr>
          <a:lstStyle/>
          <a:p>
            <a:pPr algn="ctr"/>
            <a:r>
              <a:rPr sz="3600" b="1" i="0">
                <a:solidFill>
                  <a:srgbClr val="C8A951"/>
                </a:solidFill>
                <a:latin typeface="Calibri"/>
              </a:rPr>
              <a:t>28,228</a:t>
            </a:r>
          </a:p>
        </p:txBody>
      </p:sp>
      <p:sp>
        <p:nvSpPr>
          <p:cNvPr id="16" name="TextBox 15"/>
          <p:cNvSpPr txBox="1"/>
          <p:nvPr/>
        </p:nvSpPr>
        <p:spPr>
          <a:xfrm>
            <a:off x="5001768" y="2103120"/>
            <a:ext cx="2148840" cy="365760"/>
          </a:xfrm>
          <a:prstGeom prst="rect">
            <a:avLst/>
          </a:prstGeom>
          <a:noFill/>
        </p:spPr>
        <p:txBody>
          <a:bodyPr wrap="square">
            <a:spAutoFit/>
          </a:bodyPr>
          <a:lstStyle/>
          <a:p>
            <a:pPr algn="ctr"/>
            <a:r>
              <a:rPr sz="1300" b="0" i="0">
                <a:solidFill>
                  <a:srgbClr val="FFFFFF"/>
                </a:solidFill>
                <a:latin typeface="Calibri"/>
              </a:rPr>
              <a:t>KG Edges</a:t>
            </a:r>
          </a:p>
        </p:txBody>
      </p:sp>
      <p:sp>
        <p:nvSpPr>
          <p:cNvPr id="17" name="Rectangle 16"/>
          <p:cNvSpPr/>
          <p:nvPr/>
        </p:nvSpPr>
        <p:spPr>
          <a:xfrm>
            <a:off x="7319772" y="1508760"/>
            <a:ext cx="2148840"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9772" y="1600200"/>
            <a:ext cx="2148840" cy="594360"/>
          </a:xfrm>
          <a:prstGeom prst="rect">
            <a:avLst/>
          </a:prstGeom>
          <a:noFill/>
        </p:spPr>
        <p:txBody>
          <a:bodyPr wrap="square">
            <a:spAutoFit/>
          </a:bodyPr>
          <a:lstStyle/>
          <a:p>
            <a:pPr algn="ctr"/>
            <a:r>
              <a:rPr sz="3600" b="1" i="0">
                <a:solidFill>
                  <a:srgbClr val="C8A951"/>
                </a:solidFill>
                <a:latin typeface="Calibri"/>
              </a:rPr>
              <a:t>9,758</a:t>
            </a:r>
          </a:p>
        </p:txBody>
      </p:sp>
      <p:sp>
        <p:nvSpPr>
          <p:cNvPr id="19" name="TextBox 18"/>
          <p:cNvSpPr txBox="1"/>
          <p:nvPr/>
        </p:nvSpPr>
        <p:spPr>
          <a:xfrm>
            <a:off x="7319772" y="2103120"/>
            <a:ext cx="2148840" cy="365760"/>
          </a:xfrm>
          <a:prstGeom prst="rect">
            <a:avLst/>
          </a:prstGeom>
          <a:noFill/>
        </p:spPr>
        <p:txBody>
          <a:bodyPr wrap="square">
            <a:spAutoFit/>
          </a:bodyPr>
          <a:lstStyle/>
          <a:p>
            <a:pPr algn="ctr"/>
            <a:r>
              <a:rPr sz="1300" b="0" i="0">
                <a:solidFill>
                  <a:srgbClr val="FFFFFF"/>
                </a:solidFill>
                <a:latin typeface="Calibri"/>
              </a:rPr>
              <a:t>Communities</a:t>
            </a:r>
          </a:p>
        </p:txBody>
      </p:sp>
      <p:sp>
        <p:nvSpPr>
          <p:cNvPr id="20" name="Rectangle 19"/>
          <p:cNvSpPr/>
          <p:nvPr/>
        </p:nvSpPr>
        <p:spPr>
          <a:xfrm>
            <a:off x="9637776" y="1508760"/>
            <a:ext cx="2148840"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37776" y="1600200"/>
            <a:ext cx="2148840" cy="594360"/>
          </a:xfrm>
          <a:prstGeom prst="rect">
            <a:avLst/>
          </a:prstGeom>
          <a:noFill/>
        </p:spPr>
        <p:txBody>
          <a:bodyPr wrap="square">
            <a:spAutoFit/>
          </a:bodyPr>
          <a:lstStyle/>
          <a:p>
            <a:pPr algn="ctr"/>
            <a:r>
              <a:rPr sz="3600" b="1" i="0">
                <a:solidFill>
                  <a:srgbClr val="C8A951"/>
                </a:solidFill>
                <a:latin typeface="Calibri"/>
              </a:rPr>
              <a:t>4.70</a:t>
            </a:r>
          </a:p>
        </p:txBody>
      </p:sp>
      <p:sp>
        <p:nvSpPr>
          <p:cNvPr id="22" name="TextBox 21"/>
          <p:cNvSpPr txBox="1"/>
          <p:nvPr/>
        </p:nvSpPr>
        <p:spPr>
          <a:xfrm>
            <a:off x="9637776" y="2103120"/>
            <a:ext cx="2148840" cy="365760"/>
          </a:xfrm>
          <a:prstGeom prst="rect">
            <a:avLst/>
          </a:prstGeom>
          <a:noFill/>
        </p:spPr>
        <p:txBody>
          <a:bodyPr wrap="square">
            <a:spAutoFit/>
          </a:bodyPr>
          <a:lstStyle/>
          <a:p>
            <a:pPr algn="ctr"/>
            <a:r>
              <a:rPr sz="1300" b="0" i="0">
                <a:solidFill>
                  <a:srgbClr val="FFFFFF"/>
                </a:solidFill>
                <a:latin typeface="Calibri"/>
              </a:rPr>
              <a:t>Avg. Degree</a:t>
            </a:r>
          </a:p>
        </p:txBody>
      </p:sp>
      <p:sp>
        <p:nvSpPr>
          <p:cNvPr id="23" name="Rectangle 22"/>
          <p:cNvSpPr/>
          <p:nvPr/>
        </p:nvSpPr>
        <p:spPr>
          <a:xfrm>
            <a:off x="365760" y="2880360"/>
            <a:ext cx="5486400" cy="329184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2880360"/>
            <a:ext cx="54864" cy="32918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2990088"/>
            <a:ext cx="5303520" cy="3108960"/>
          </a:xfrm>
          <a:prstGeom prst="rect">
            <a:avLst/>
          </a:prstGeom>
          <a:noFill/>
        </p:spPr>
        <p:txBody>
          <a:bodyPr wrap="square">
            <a:spAutoFit/>
          </a:bodyPr>
          <a:lstStyle/>
          <a:p>
            <a:pPr algn="l"/>
            <a:r>
              <a:rPr sz="1900" b="1">
                <a:solidFill>
                  <a:srgbClr val="1B2A4A"/>
                </a:solidFill>
                <a:latin typeface="Calibri"/>
              </a:rPr>
              <a:t>Dataset Highlights</a:t>
            </a:r>
          </a:p>
          <a:p>
            <a:pPr algn="l">
              <a:spcBef>
                <a:spcPts val="400"/>
              </a:spcBef>
            </a:pPr>
            <a:r>
              <a:rPr sz="1700">
                <a:solidFill>
                  <a:srgbClr val="1A1A2E"/>
                </a:solidFill>
                <a:latin typeface="Calibri"/>
              </a:rPr>
              <a:t>▸  1,335 hymns fully annotated — 100% corpus coverage</a:t>
            </a:r>
          </a:p>
          <a:p>
            <a:pPr algn="l">
              <a:spcBef>
                <a:spcPts val="400"/>
              </a:spcBef>
            </a:pPr>
            <a:r>
              <a:rPr sz="1700">
                <a:solidFill>
                  <a:srgbClr val="1A1A2E"/>
                </a:solidFill>
                <a:latin typeface="Calibri"/>
              </a:rPr>
              <a:t>▸  6 semantic node types: Song, Entity, Theme, MythEvent, Philosophy, Imagery, Place</a:t>
            </a:r>
          </a:p>
          <a:p>
            <a:pPr algn="l">
              <a:spcBef>
                <a:spcPts val="400"/>
              </a:spcBef>
            </a:pPr>
            <a:r>
              <a:rPr sz="1700">
                <a:solidFill>
                  <a:srgbClr val="1A1A2E"/>
                </a:solidFill>
                <a:latin typeface="Calibri"/>
              </a:rPr>
              <a:t>▸  Annotations created through careful manual review by domain experts</a:t>
            </a:r>
          </a:p>
          <a:p>
            <a:pPr algn="l">
              <a:spcBef>
                <a:spcPts val="400"/>
              </a:spcBef>
            </a:pPr>
            <a:r>
              <a:rPr sz="1700">
                <a:solidFill>
                  <a:srgbClr val="1A1A2E"/>
                </a:solidFill>
                <a:latin typeface="Calibri"/>
              </a:rPr>
              <a:t>▸  Inter-annotator agreement verified with Cohen's Kappa (κ)</a:t>
            </a:r>
          </a:p>
          <a:p>
            <a:pPr algn="l">
              <a:spcBef>
                <a:spcPts val="400"/>
              </a:spcBef>
            </a:pPr>
            <a:r>
              <a:rPr sz="1700">
                <a:solidFill>
                  <a:srgbClr val="1A1A2E"/>
                </a:solidFill>
                <a:latin typeface="Calibri"/>
              </a:rPr>
              <a:t>▸  Data stored in structured JSON format, Neo4j-importable</a:t>
            </a:r>
          </a:p>
        </p:txBody>
      </p:sp>
      <p:sp>
        <p:nvSpPr>
          <p:cNvPr id="26" name="TextBox 25"/>
          <p:cNvSpPr txBox="1"/>
          <p:nvPr/>
        </p:nvSpPr>
        <p:spPr>
          <a:xfrm>
            <a:off x="6126480" y="2880360"/>
            <a:ext cx="5669280" cy="457200"/>
          </a:xfrm>
          <a:prstGeom prst="rect">
            <a:avLst/>
          </a:prstGeom>
          <a:noFill/>
        </p:spPr>
        <p:txBody>
          <a:bodyPr wrap="square">
            <a:spAutoFit/>
          </a:bodyPr>
          <a:lstStyle/>
          <a:p>
            <a:pPr algn="l"/>
            <a:r>
              <a:rPr sz="1900" b="1" i="0">
                <a:solidFill>
                  <a:srgbClr val="1B2A4A"/>
                </a:solidFill>
                <a:latin typeface="Calibri"/>
              </a:rPr>
              <a:t>Node Type Breakdown</a:t>
            </a:r>
          </a:p>
        </p:txBody>
      </p:sp>
      <p:sp>
        <p:nvSpPr>
          <p:cNvPr id="27" name="TextBox 26"/>
          <p:cNvSpPr txBox="1"/>
          <p:nvPr/>
        </p:nvSpPr>
        <p:spPr>
          <a:xfrm>
            <a:off x="6126480" y="3429000"/>
            <a:ext cx="1188720" cy="347472"/>
          </a:xfrm>
          <a:prstGeom prst="rect">
            <a:avLst/>
          </a:prstGeom>
          <a:noFill/>
        </p:spPr>
        <p:txBody>
          <a:bodyPr wrap="square">
            <a:spAutoFit/>
          </a:bodyPr>
          <a:lstStyle/>
          <a:p>
            <a:pPr algn="r"/>
            <a:r>
              <a:rPr sz="1200" b="1" i="0">
                <a:solidFill>
                  <a:srgbClr val="1A1A2E"/>
                </a:solidFill>
                <a:latin typeface="Calibri"/>
              </a:rPr>
              <a:t>Song</a:t>
            </a:r>
          </a:p>
        </p:txBody>
      </p:sp>
      <p:sp>
        <p:nvSpPr>
          <p:cNvPr id="28" name="Rectangle 27"/>
          <p:cNvSpPr/>
          <p:nvPr/>
        </p:nvSpPr>
        <p:spPr>
          <a:xfrm>
            <a:off x="7360920" y="3429000"/>
            <a:ext cx="4389120" cy="347472"/>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823192" y="3429000"/>
            <a:ext cx="731520" cy="347472"/>
          </a:xfrm>
          <a:prstGeom prst="rect">
            <a:avLst/>
          </a:prstGeom>
          <a:noFill/>
        </p:spPr>
        <p:txBody>
          <a:bodyPr wrap="square">
            <a:spAutoFit/>
          </a:bodyPr>
          <a:lstStyle/>
          <a:p>
            <a:pPr algn="l"/>
            <a:r>
              <a:rPr sz="1100" b="1" i="0">
                <a:solidFill>
                  <a:srgbClr val="1A1A2E"/>
                </a:solidFill>
                <a:latin typeface="Calibri"/>
              </a:rPr>
              <a:t>1,335</a:t>
            </a:r>
          </a:p>
        </p:txBody>
      </p:sp>
      <p:sp>
        <p:nvSpPr>
          <p:cNvPr id="30" name="TextBox 29"/>
          <p:cNvSpPr txBox="1"/>
          <p:nvPr/>
        </p:nvSpPr>
        <p:spPr>
          <a:xfrm>
            <a:off x="6126480" y="3867912"/>
            <a:ext cx="1188720" cy="347472"/>
          </a:xfrm>
          <a:prstGeom prst="rect">
            <a:avLst/>
          </a:prstGeom>
          <a:noFill/>
        </p:spPr>
        <p:txBody>
          <a:bodyPr wrap="square">
            <a:spAutoFit/>
          </a:bodyPr>
          <a:lstStyle/>
          <a:p>
            <a:pPr algn="r"/>
            <a:r>
              <a:rPr sz="1200" b="1" i="0">
                <a:solidFill>
                  <a:srgbClr val="1A1A2E"/>
                </a:solidFill>
                <a:latin typeface="Calibri"/>
              </a:rPr>
              <a:t>Entity</a:t>
            </a:r>
          </a:p>
        </p:txBody>
      </p:sp>
      <p:sp>
        <p:nvSpPr>
          <p:cNvPr id="31" name="Rectangle 30"/>
          <p:cNvSpPr/>
          <p:nvPr/>
        </p:nvSpPr>
        <p:spPr>
          <a:xfrm>
            <a:off x="7360920" y="3867912"/>
            <a:ext cx="2721254" cy="347472"/>
          </a:xfrm>
          <a:prstGeom prst="rect">
            <a:avLst/>
          </a:prstGeom>
          <a:solidFill>
            <a:srgbClr val="B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155326" y="3867912"/>
            <a:ext cx="731520" cy="347472"/>
          </a:xfrm>
          <a:prstGeom prst="rect">
            <a:avLst/>
          </a:prstGeom>
          <a:noFill/>
        </p:spPr>
        <p:txBody>
          <a:bodyPr wrap="square">
            <a:spAutoFit/>
          </a:bodyPr>
          <a:lstStyle/>
          <a:p>
            <a:pPr algn="l"/>
            <a:r>
              <a:rPr sz="1100" b="1" i="0">
                <a:solidFill>
                  <a:srgbClr val="1A1A2E"/>
                </a:solidFill>
                <a:latin typeface="Calibri"/>
              </a:rPr>
              <a:t>~4,200</a:t>
            </a:r>
          </a:p>
        </p:txBody>
      </p:sp>
      <p:sp>
        <p:nvSpPr>
          <p:cNvPr id="33" name="TextBox 32"/>
          <p:cNvSpPr txBox="1"/>
          <p:nvPr/>
        </p:nvSpPr>
        <p:spPr>
          <a:xfrm>
            <a:off x="6126480" y="4306824"/>
            <a:ext cx="1188720" cy="347472"/>
          </a:xfrm>
          <a:prstGeom prst="rect">
            <a:avLst/>
          </a:prstGeom>
          <a:noFill/>
        </p:spPr>
        <p:txBody>
          <a:bodyPr wrap="square">
            <a:spAutoFit/>
          </a:bodyPr>
          <a:lstStyle/>
          <a:p>
            <a:pPr algn="r"/>
            <a:r>
              <a:rPr sz="1200" b="1" i="0">
                <a:solidFill>
                  <a:srgbClr val="1A1A2E"/>
                </a:solidFill>
                <a:latin typeface="Calibri"/>
              </a:rPr>
              <a:t>Imagery</a:t>
            </a:r>
          </a:p>
        </p:txBody>
      </p:sp>
      <p:sp>
        <p:nvSpPr>
          <p:cNvPr id="34" name="Rectangle 33"/>
          <p:cNvSpPr/>
          <p:nvPr/>
        </p:nvSpPr>
        <p:spPr>
          <a:xfrm>
            <a:off x="7360920" y="4306824"/>
            <a:ext cx="1667865" cy="347472"/>
          </a:xfrm>
          <a:prstGeom prst="rect">
            <a:avLst/>
          </a:prstGeom>
          <a:solidFill>
            <a:srgbClr val="C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01937" y="4306824"/>
            <a:ext cx="731520" cy="347472"/>
          </a:xfrm>
          <a:prstGeom prst="rect">
            <a:avLst/>
          </a:prstGeom>
          <a:noFill/>
        </p:spPr>
        <p:txBody>
          <a:bodyPr wrap="square">
            <a:spAutoFit/>
          </a:bodyPr>
          <a:lstStyle/>
          <a:p>
            <a:pPr algn="l"/>
            <a:r>
              <a:rPr sz="1100" b="1" i="0">
                <a:solidFill>
                  <a:srgbClr val="1A1A2E"/>
                </a:solidFill>
                <a:latin typeface="Calibri"/>
              </a:rPr>
              <a:t>~2,400</a:t>
            </a:r>
          </a:p>
        </p:txBody>
      </p:sp>
      <p:sp>
        <p:nvSpPr>
          <p:cNvPr id="36" name="TextBox 35"/>
          <p:cNvSpPr txBox="1"/>
          <p:nvPr/>
        </p:nvSpPr>
        <p:spPr>
          <a:xfrm>
            <a:off x="6126480" y="4745736"/>
            <a:ext cx="1188720" cy="347472"/>
          </a:xfrm>
          <a:prstGeom prst="rect">
            <a:avLst/>
          </a:prstGeom>
          <a:noFill/>
        </p:spPr>
        <p:txBody>
          <a:bodyPr wrap="square">
            <a:spAutoFit/>
          </a:bodyPr>
          <a:lstStyle/>
          <a:p>
            <a:pPr algn="r"/>
            <a:r>
              <a:rPr sz="1200" b="1" i="0">
                <a:solidFill>
                  <a:srgbClr val="1A1A2E"/>
                </a:solidFill>
                <a:latin typeface="Calibri"/>
              </a:rPr>
              <a:t>MythEvent</a:t>
            </a:r>
          </a:p>
        </p:txBody>
      </p:sp>
      <p:sp>
        <p:nvSpPr>
          <p:cNvPr id="37" name="Rectangle 36"/>
          <p:cNvSpPr/>
          <p:nvPr/>
        </p:nvSpPr>
        <p:spPr>
          <a:xfrm>
            <a:off x="7360920" y="4745736"/>
            <a:ext cx="1316736" cy="347472"/>
          </a:xfrm>
          <a:prstGeom prst="rect">
            <a:avLst/>
          </a:prstGeom>
          <a:solidFill>
            <a:srgbClr val="5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750808" y="4745736"/>
            <a:ext cx="731520" cy="347472"/>
          </a:xfrm>
          <a:prstGeom prst="rect">
            <a:avLst/>
          </a:prstGeom>
          <a:noFill/>
        </p:spPr>
        <p:txBody>
          <a:bodyPr wrap="square">
            <a:spAutoFit/>
          </a:bodyPr>
          <a:lstStyle/>
          <a:p>
            <a:pPr algn="l"/>
            <a:r>
              <a:rPr sz="1100" b="1" i="0">
                <a:solidFill>
                  <a:srgbClr val="1A1A2E"/>
                </a:solidFill>
                <a:latin typeface="Calibri"/>
              </a:rPr>
              <a:t>~1,600</a:t>
            </a:r>
          </a:p>
        </p:txBody>
      </p:sp>
      <p:sp>
        <p:nvSpPr>
          <p:cNvPr id="39" name="TextBox 38"/>
          <p:cNvSpPr txBox="1"/>
          <p:nvPr/>
        </p:nvSpPr>
        <p:spPr>
          <a:xfrm>
            <a:off x="6126480" y="5184648"/>
            <a:ext cx="1188720" cy="347472"/>
          </a:xfrm>
          <a:prstGeom prst="rect">
            <a:avLst/>
          </a:prstGeom>
          <a:noFill/>
        </p:spPr>
        <p:txBody>
          <a:bodyPr wrap="square">
            <a:spAutoFit/>
          </a:bodyPr>
          <a:lstStyle/>
          <a:p>
            <a:pPr algn="r"/>
            <a:r>
              <a:rPr sz="1200" b="1" i="0">
                <a:solidFill>
                  <a:srgbClr val="1A1A2E"/>
                </a:solidFill>
                <a:latin typeface="Calibri"/>
              </a:rPr>
              <a:t>Philosophy</a:t>
            </a:r>
          </a:p>
        </p:txBody>
      </p:sp>
      <p:sp>
        <p:nvSpPr>
          <p:cNvPr id="40" name="Rectangle 39"/>
          <p:cNvSpPr/>
          <p:nvPr/>
        </p:nvSpPr>
        <p:spPr>
          <a:xfrm>
            <a:off x="7360920" y="5184648"/>
            <a:ext cx="1141171" cy="347472"/>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75243" y="5184648"/>
            <a:ext cx="731520" cy="347472"/>
          </a:xfrm>
          <a:prstGeom prst="rect">
            <a:avLst/>
          </a:prstGeom>
          <a:noFill/>
        </p:spPr>
        <p:txBody>
          <a:bodyPr wrap="square">
            <a:spAutoFit/>
          </a:bodyPr>
          <a:lstStyle/>
          <a:p>
            <a:pPr algn="l"/>
            <a:r>
              <a:rPr sz="1100" b="1" i="0">
                <a:solidFill>
                  <a:srgbClr val="1A1A2E"/>
                </a:solidFill>
                <a:latin typeface="Calibri"/>
              </a:rPr>
              <a:t>~1,400</a:t>
            </a:r>
          </a:p>
        </p:txBody>
      </p:sp>
      <p:sp>
        <p:nvSpPr>
          <p:cNvPr id="42" name="TextBox 41"/>
          <p:cNvSpPr txBox="1"/>
          <p:nvPr/>
        </p:nvSpPr>
        <p:spPr>
          <a:xfrm>
            <a:off x="6126480" y="5623560"/>
            <a:ext cx="1188720" cy="347472"/>
          </a:xfrm>
          <a:prstGeom prst="rect">
            <a:avLst/>
          </a:prstGeom>
          <a:noFill/>
        </p:spPr>
        <p:txBody>
          <a:bodyPr wrap="square">
            <a:spAutoFit/>
          </a:bodyPr>
          <a:lstStyle/>
          <a:p>
            <a:pPr algn="r"/>
            <a:r>
              <a:rPr sz="1200" b="1" i="0">
                <a:solidFill>
                  <a:srgbClr val="1A1A2E"/>
                </a:solidFill>
                <a:latin typeface="Calibri"/>
              </a:rPr>
              <a:t>Place</a:t>
            </a:r>
          </a:p>
        </p:txBody>
      </p:sp>
      <p:sp>
        <p:nvSpPr>
          <p:cNvPr id="43" name="Rectangle 42"/>
          <p:cNvSpPr/>
          <p:nvPr/>
        </p:nvSpPr>
        <p:spPr>
          <a:xfrm>
            <a:off x="7360920" y="5623560"/>
            <a:ext cx="1053388" cy="347472"/>
          </a:xfrm>
          <a:prstGeom prst="rect">
            <a:avLst/>
          </a:prstGeom>
          <a:solidFill>
            <a:srgbClr val="7A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87460" y="5623560"/>
            <a:ext cx="731520" cy="347472"/>
          </a:xfrm>
          <a:prstGeom prst="rect">
            <a:avLst/>
          </a:prstGeom>
          <a:noFill/>
        </p:spPr>
        <p:txBody>
          <a:bodyPr wrap="square">
            <a:spAutoFit/>
          </a:bodyPr>
          <a:lstStyle/>
          <a:p>
            <a:pPr algn="l"/>
            <a:r>
              <a:rPr sz="1100" b="1" i="0">
                <a:solidFill>
                  <a:srgbClr val="1A1A2E"/>
                </a:solidFill>
                <a:latin typeface="Calibri"/>
              </a:rPr>
              <a:t>~1,300</a:t>
            </a:r>
          </a:p>
        </p:txBody>
      </p:sp>
      <p:sp>
        <p:nvSpPr>
          <p:cNvPr id="45" name="TextBox 44"/>
          <p:cNvSpPr txBox="1"/>
          <p:nvPr/>
        </p:nvSpPr>
        <p:spPr>
          <a:xfrm>
            <a:off x="6126480" y="6062472"/>
            <a:ext cx="1188720" cy="347472"/>
          </a:xfrm>
          <a:prstGeom prst="rect">
            <a:avLst/>
          </a:prstGeom>
          <a:noFill/>
        </p:spPr>
        <p:txBody>
          <a:bodyPr wrap="square">
            <a:spAutoFit/>
          </a:bodyPr>
          <a:lstStyle/>
          <a:p>
            <a:pPr algn="r"/>
            <a:r>
              <a:rPr sz="1200" b="1" i="0">
                <a:solidFill>
                  <a:srgbClr val="1A1A2E"/>
                </a:solidFill>
                <a:latin typeface="Calibri"/>
              </a:rPr>
              <a:t>Theme</a:t>
            </a:r>
          </a:p>
        </p:txBody>
      </p:sp>
      <p:sp>
        <p:nvSpPr>
          <p:cNvPr id="46" name="Rectangle 45"/>
          <p:cNvSpPr/>
          <p:nvPr/>
        </p:nvSpPr>
        <p:spPr>
          <a:xfrm>
            <a:off x="7360920" y="6062472"/>
            <a:ext cx="790041"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4113" y="6062472"/>
            <a:ext cx="731520" cy="347472"/>
          </a:xfrm>
          <a:prstGeom prst="rect">
            <a:avLst/>
          </a:prstGeom>
          <a:noFill/>
        </p:spPr>
        <p:txBody>
          <a:bodyPr wrap="square">
            <a:spAutoFit/>
          </a:bodyPr>
          <a:lstStyle/>
          <a:p>
            <a:pPr algn="l"/>
            <a:r>
              <a:rPr sz="1100" b="1" i="0">
                <a:solidFill>
                  <a:srgbClr val="1A1A2E"/>
                </a:solidFill>
                <a:latin typeface="Calibri"/>
              </a:rPr>
              <a:t>~650</a:t>
            </a:r>
          </a:p>
        </p:txBody>
      </p:sp>
      <p:sp>
        <p:nvSpPr>
          <p:cNvPr id="48" name="TextBox 47"/>
          <p:cNvSpPr txBox="1"/>
          <p:nvPr/>
        </p:nvSpPr>
        <p:spPr>
          <a:xfrm>
            <a:off x="6126480" y="6263640"/>
            <a:ext cx="5669280" cy="320040"/>
          </a:xfrm>
          <a:prstGeom prst="rect">
            <a:avLst/>
          </a:prstGeom>
          <a:noFill/>
        </p:spPr>
        <p:txBody>
          <a:bodyPr wrap="square">
            <a:spAutoFit/>
          </a:bodyPr>
          <a:lstStyle/>
          <a:p>
            <a:pPr algn="l"/>
            <a:r>
              <a:rPr sz="1000" b="0" i="1">
                <a:solidFill>
                  <a:srgbClr val="6B7B9A"/>
                </a:solidFill>
                <a:latin typeface="Calibri"/>
              </a:rPr>
              <a:t>* Entity, Theme etc. counts are distributed across 10,657 semantic nodes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Thiruppugazh Knowledge Graph</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Multi-cluster graph with colour-coded node types — Neo4j Graph Data Science</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pic>
        <p:nvPicPr>
          <p:cNvPr id="8" name="Picture 7" descr="muru1.png"/>
          <p:cNvPicPr>
            <a:picLocks noChangeAspect="1"/>
          </p:cNvPicPr>
          <p:nvPr/>
        </p:nvPicPr>
        <p:blipFill>
          <a:blip r:embed="rId2"/>
          <a:stretch>
            <a:fillRect/>
          </a:stretch>
        </p:blipFill>
        <p:spPr>
          <a:xfrm>
            <a:off x="274320" y="1618488"/>
            <a:ext cx="6858000" cy="4437070"/>
          </a:xfrm>
          <a:prstGeom prst="rect">
            <a:avLst/>
          </a:prstGeom>
        </p:spPr>
      </p:pic>
      <p:sp>
        <p:nvSpPr>
          <p:cNvPr id="9" name="Rectangle 8"/>
          <p:cNvSpPr/>
          <p:nvPr/>
        </p:nvSpPr>
        <p:spPr>
          <a:xfrm>
            <a:off x="7360920" y="1463040"/>
            <a:ext cx="4434840" cy="5029200"/>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60920" y="1463040"/>
            <a:ext cx="54864" cy="50292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43800" y="1600200"/>
            <a:ext cx="4023360" cy="411480"/>
          </a:xfrm>
          <a:prstGeom prst="rect">
            <a:avLst/>
          </a:prstGeom>
          <a:noFill/>
        </p:spPr>
        <p:txBody>
          <a:bodyPr wrap="square">
            <a:spAutoFit/>
          </a:bodyPr>
          <a:lstStyle/>
          <a:p>
            <a:pPr algn="l"/>
            <a:r>
              <a:rPr sz="1800" b="1" i="0">
                <a:solidFill>
                  <a:srgbClr val="C8A951"/>
                </a:solidFill>
                <a:latin typeface="Calibri"/>
              </a:rPr>
              <a:t>Node Types</a:t>
            </a:r>
          </a:p>
        </p:txBody>
      </p:sp>
      <p:sp>
        <p:nvSpPr>
          <p:cNvPr id="12" name="Rectangle 11"/>
          <p:cNvSpPr/>
          <p:nvPr/>
        </p:nvSpPr>
        <p:spPr>
          <a:xfrm>
            <a:off x="7635240" y="2203704"/>
            <a:ext cx="256032" cy="256032"/>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2148840"/>
            <a:ext cx="3566160" cy="411480"/>
          </a:xfrm>
          <a:prstGeom prst="rect">
            <a:avLst/>
          </a:prstGeom>
          <a:noFill/>
        </p:spPr>
        <p:txBody>
          <a:bodyPr wrap="square">
            <a:spAutoFit/>
          </a:bodyPr>
          <a:lstStyle/>
          <a:p>
            <a:pPr algn="l"/>
            <a:r>
              <a:rPr sz="1400" b="0" i="0">
                <a:solidFill>
                  <a:srgbClr val="FFFFFF"/>
                </a:solidFill>
                <a:latin typeface="Calibri"/>
              </a:rPr>
              <a:t>Song (1,335)</a:t>
            </a:r>
          </a:p>
        </p:txBody>
      </p:sp>
      <p:sp>
        <p:nvSpPr>
          <p:cNvPr id="14" name="Rectangle 13"/>
          <p:cNvSpPr/>
          <p:nvPr/>
        </p:nvSpPr>
        <p:spPr>
          <a:xfrm>
            <a:off x="7635240" y="2715768"/>
            <a:ext cx="256032" cy="256032"/>
          </a:xfrm>
          <a:prstGeom prst="rect">
            <a:avLst/>
          </a:prstGeom>
          <a:solidFill>
            <a:srgbClr val="FF9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01000" y="2660904"/>
            <a:ext cx="3566160" cy="411480"/>
          </a:xfrm>
          <a:prstGeom prst="rect">
            <a:avLst/>
          </a:prstGeom>
          <a:noFill/>
        </p:spPr>
        <p:txBody>
          <a:bodyPr wrap="square">
            <a:spAutoFit/>
          </a:bodyPr>
          <a:lstStyle/>
          <a:p>
            <a:pPr algn="l"/>
            <a:r>
              <a:rPr sz="1400" b="0" i="0">
                <a:solidFill>
                  <a:srgbClr val="FFFFFF"/>
                </a:solidFill>
                <a:latin typeface="Calibri"/>
              </a:rPr>
              <a:t>Imagery (~2,400)</a:t>
            </a:r>
          </a:p>
        </p:txBody>
      </p:sp>
      <p:sp>
        <p:nvSpPr>
          <p:cNvPr id="16" name="Rectangle 15"/>
          <p:cNvSpPr/>
          <p:nvPr/>
        </p:nvSpPr>
        <p:spPr>
          <a:xfrm>
            <a:off x="7635240" y="3227832"/>
            <a:ext cx="256032" cy="256032"/>
          </a:xfrm>
          <a:prstGeom prst="rect">
            <a:avLst/>
          </a:prstGeom>
          <a:solidFill>
            <a:srgbClr val="CC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01000" y="3172968"/>
            <a:ext cx="3566160" cy="411480"/>
          </a:xfrm>
          <a:prstGeom prst="rect">
            <a:avLst/>
          </a:prstGeom>
          <a:noFill/>
        </p:spPr>
        <p:txBody>
          <a:bodyPr wrap="square">
            <a:spAutoFit/>
          </a:bodyPr>
          <a:lstStyle/>
          <a:p>
            <a:pPr algn="l"/>
            <a:r>
              <a:rPr sz="1400" b="0" i="0">
                <a:solidFill>
                  <a:srgbClr val="FFFFFF"/>
                </a:solidFill>
                <a:latin typeface="Calibri"/>
              </a:rPr>
              <a:t>Theme (~650)</a:t>
            </a:r>
          </a:p>
        </p:txBody>
      </p:sp>
      <p:sp>
        <p:nvSpPr>
          <p:cNvPr id="18" name="Rectangle 17"/>
          <p:cNvSpPr/>
          <p:nvPr/>
        </p:nvSpPr>
        <p:spPr>
          <a:xfrm>
            <a:off x="7635240" y="3739896"/>
            <a:ext cx="256032" cy="256032"/>
          </a:xfrm>
          <a:prstGeom prst="rect">
            <a:avLst/>
          </a:prstGeom>
          <a:solidFill>
            <a:srgbClr val="FFB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01000" y="3685032"/>
            <a:ext cx="3566160" cy="411480"/>
          </a:xfrm>
          <a:prstGeom prst="rect">
            <a:avLst/>
          </a:prstGeom>
          <a:noFill/>
        </p:spPr>
        <p:txBody>
          <a:bodyPr wrap="square">
            <a:spAutoFit/>
          </a:bodyPr>
          <a:lstStyle/>
          <a:p>
            <a:pPr algn="l"/>
            <a:r>
              <a:rPr sz="1400" b="0" i="0">
                <a:solidFill>
                  <a:srgbClr val="FFFFFF"/>
                </a:solidFill>
                <a:latin typeface="Calibri"/>
              </a:rPr>
              <a:t>MythEvent (~1,600)</a:t>
            </a:r>
          </a:p>
        </p:txBody>
      </p:sp>
      <p:sp>
        <p:nvSpPr>
          <p:cNvPr id="20" name="Rectangle 19"/>
          <p:cNvSpPr/>
          <p:nvPr/>
        </p:nvSpPr>
        <p:spPr>
          <a:xfrm>
            <a:off x="7635240" y="4251960"/>
            <a:ext cx="256032" cy="256032"/>
          </a:xfrm>
          <a:prstGeom prst="rect">
            <a:avLst/>
          </a:prstGeom>
          <a:solidFill>
            <a:srgbClr val="B8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01000" y="4197096"/>
            <a:ext cx="3566160" cy="411480"/>
          </a:xfrm>
          <a:prstGeom prst="rect">
            <a:avLst/>
          </a:prstGeom>
          <a:noFill/>
        </p:spPr>
        <p:txBody>
          <a:bodyPr wrap="square">
            <a:spAutoFit/>
          </a:bodyPr>
          <a:lstStyle/>
          <a:p>
            <a:pPr algn="l"/>
            <a:r>
              <a:rPr sz="1400" b="0" i="0">
                <a:solidFill>
                  <a:srgbClr val="FFFFFF"/>
                </a:solidFill>
                <a:latin typeface="Calibri"/>
              </a:rPr>
              <a:t>Philosophy (~1,400)</a:t>
            </a:r>
          </a:p>
        </p:txBody>
      </p:sp>
      <p:sp>
        <p:nvSpPr>
          <p:cNvPr id="22" name="Rectangle 21"/>
          <p:cNvSpPr/>
          <p:nvPr/>
        </p:nvSpPr>
        <p:spPr>
          <a:xfrm>
            <a:off x="7635240" y="4764024"/>
            <a:ext cx="256032" cy="256032"/>
          </a:xfrm>
          <a:prstGeom prst="rect">
            <a:avLst/>
          </a:prstGeom>
          <a:solidFill>
            <a:srgbClr val="CC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01000" y="4709160"/>
            <a:ext cx="3566160" cy="411480"/>
          </a:xfrm>
          <a:prstGeom prst="rect">
            <a:avLst/>
          </a:prstGeom>
          <a:noFill/>
        </p:spPr>
        <p:txBody>
          <a:bodyPr wrap="square">
            <a:spAutoFit/>
          </a:bodyPr>
          <a:lstStyle/>
          <a:p>
            <a:pPr algn="l"/>
            <a:r>
              <a:rPr sz="1400" b="0" i="0">
                <a:solidFill>
                  <a:srgbClr val="FFFFFF"/>
                </a:solidFill>
                <a:latin typeface="Calibri"/>
              </a:rPr>
              <a:t>Entity (~4,200)</a:t>
            </a:r>
          </a:p>
        </p:txBody>
      </p:sp>
      <p:sp>
        <p:nvSpPr>
          <p:cNvPr id="24" name="Rectangle 23"/>
          <p:cNvSpPr/>
          <p:nvPr/>
        </p:nvSpPr>
        <p:spPr>
          <a:xfrm>
            <a:off x="7635240" y="5276088"/>
            <a:ext cx="256032" cy="256032"/>
          </a:xfrm>
          <a:prstGeom prst="rect">
            <a:avLst/>
          </a:prstGeom>
          <a:solidFill>
            <a:srgbClr val="FF6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01000" y="5221224"/>
            <a:ext cx="3566160" cy="411480"/>
          </a:xfrm>
          <a:prstGeom prst="rect">
            <a:avLst/>
          </a:prstGeom>
          <a:noFill/>
        </p:spPr>
        <p:txBody>
          <a:bodyPr wrap="square">
            <a:spAutoFit/>
          </a:bodyPr>
          <a:lstStyle/>
          <a:p>
            <a:pPr algn="l"/>
            <a:r>
              <a:rPr sz="1400" b="0" i="0">
                <a:solidFill>
                  <a:srgbClr val="FFFFFF"/>
                </a:solidFill>
                <a:latin typeface="Calibri"/>
              </a:rPr>
              <a:t>Place (~1,300)</a:t>
            </a:r>
          </a:p>
        </p:txBody>
      </p:sp>
      <p:sp>
        <p:nvSpPr>
          <p:cNvPr id="26" name="TextBox 25"/>
          <p:cNvSpPr txBox="1"/>
          <p:nvPr/>
        </p:nvSpPr>
        <p:spPr>
          <a:xfrm>
            <a:off x="7543800" y="5760720"/>
            <a:ext cx="4023360" cy="365760"/>
          </a:xfrm>
          <a:prstGeom prst="rect">
            <a:avLst/>
          </a:prstGeom>
          <a:noFill/>
        </p:spPr>
        <p:txBody>
          <a:bodyPr wrap="square">
            <a:spAutoFit/>
          </a:bodyPr>
          <a:lstStyle/>
          <a:p>
            <a:pPr algn="l"/>
            <a:r>
              <a:rPr sz="1600" b="1" i="0">
                <a:solidFill>
                  <a:srgbClr val="C8A951"/>
                </a:solidFill>
                <a:latin typeface="Calibri"/>
              </a:rPr>
              <a:t>Graph Statistics</a:t>
            </a:r>
          </a:p>
        </p:txBody>
      </p:sp>
      <p:sp>
        <p:nvSpPr>
          <p:cNvPr id="27" name="Rectangle 26"/>
          <p:cNvSpPr/>
          <p:nvPr/>
        </p:nvSpPr>
        <p:spPr>
          <a:xfrm>
            <a:off x="7543800" y="6108192"/>
            <a:ext cx="4023360"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43800" y="6172200"/>
            <a:ext cx="4114800" cy="457200"/>
          </a:xfrm>
          <a:prstGeom prst="rect">
            <a:avLst/>
          </a:prstGeom>
          <a:noFill/>
        </p:spPr>
        <p:txBody>
          <a:bodyPr wrap="square">
            <a:spAutoFit/>
          </a:bodyPr>
          <a:lstStyle/>
          <a:p>
            <a:pPr algn="l"/>
            <a:r>
              <a:rPr sz="1200" b="0" i="0">
                <a:solidFill>
                  <a:srgbClr val="F5EDD8"/>
                </a:solidFill>
                <a:latin typeface="Calibri"/>
              </a:rPr>
              <a:t>11,992 nodes  ·  28,228 edges  ·  avg degree 4.70  ·  9,758 communities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Graph Analytics — PageRank</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Identifying the most influential entities in the devotional network</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pic>
        <p:nvPicPr>
          <p:cNvPr id="8" name="Picture 7" descr="visualisation1.png"/>
          <p:cNvPicPr>
            <a:picLocks noChangeAspect="1"/>
          </p:cNvPicPr>
          <p:nvPr/>
        </p:nvPicPr>
        <p:blipFill>
          <a:blip r:embed="rId2"/>
          <a:stretch>
            <a:fillRect/>
          </a:stretch>
        </p:blipFill>
        <p:spPr>
          <a:xfrm>
            <a:off x="281637" y="1609344"/>
            <a:ext cx="5303520" cy="4517136"/>
          </a:xfrm>
          <a:prstGeom prst="rect">
            <a:avLst/>
          </a:prstGeom>
        </p:spPr>
      </p:pic>
      <p:sp>
        <p:nvSpPr>
          <p:cNvPr id="9" name="TextBox 8"/>
          <p:cNvSpPr txBox="1"/>
          <p:nvPr/>
        </p:nvSpPr>
        <p:spPr>
          <a:xfrm>
            <a:off x="5943600" y="1508760"/>
            <a:ext cx="5943600" cy="457200"/>
          </a:xfrm>
          <a:prstGeom prst="rect">
            <a:avLst/>
          </a:prstGeom>
          <a:noFill/>
        </p:spPr>
        <p:txBody>
          <a:bodyPr wrap="square">
            <a:spAutoFit/>
          </a:bodyPr>
          <a:lstStyle/>
          <a:p>
            <a:pPr algn="l"/>
            <a:r>
              <a:rPr sz="2000" b="1" i="0">
                <a:solidFill>
                  <a:srgbClr val="1B2A4A"/>
                </a:solidFill>
                <a:latin typeface="Calibri"/>
              </a:rPr>
              <a:t>PageRank Results (Normalized)</a:t>
            </a:r>
          </a:p>
        </p:txBody>
      </p:sp>
      <p:sp>
        <p:nvSpPr>
          <p:cNvPr id="10" name="TextBox 9"/>
          <p:cNvSpPr txBox="1"/>
          <p:nvPr/>
        </p:nvSpPr>
        <p:spPr>
          <a:xfrm>
            <a:off x="5943600" y="1920240"/>
            <a:ext cx="5943600" cy="365760"/>
          </a:xfrm>
          <a:prstGeom prst="rect">
            <a:avLst/>
          </a:prstGeom>
          <a:noFill/>
        </p:spPr>
        <p:txBody>
          <a:bodyPr wrap="square">
            <a:spAutoFit/>
          </a:bodyPr>
          <a:lstStyle/>
          <a:p>
            <a:pPr algn="l"/>
            <a:r>
              <a:rPr sz="1300" b="0" i="1">
                <a:solidFill>
                  <a:srgbClr val="6B7B9A"/>
                </a:solidFill>
                <a:latin typeface="Calibri"/>
              </a:rPr>
              <a:t>Damping factor = 0.85 · Min-Max normalized · Neo4j GDS Library</a:t>
            </a:r>
          </a:p>
        </p:txBody>
      </p:sp>
      <p:sp>
        <p:nvSpPr>
          <p:cNvPr id="11" name="Rectangle 10"/>
          <p:cNvSpPr/>
          <p:nvPr/>
        </p:nvSpPr>
        <p:spPr>
          <a:xfrm>
            <a:off x="5943600" y="2377440"/>
            <a:ext cx="5943600" cy="4114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0" y="2423160"/>
            <a:ext cx="1645920" cy="347472"/>
          </a:xfrm>
          <a:prstGeom prst="rect">
            <a:avLst/>
          </a:prstGeom>
          <a:noFill/>
        </p:spPr>
        <p:txBody>
          <a:bodyPr wrap="square">
            <a:spAutoFit/>
          </a:bodyPr>
          <a:lstStyle/>
          <a:p>
            <a:pPr algn="l"/>
            <a:r>
              <a:rPr sz="1300" b="1" i="0">
                <a:solidFill>
                  <a:srgbClr val="FFFFFF"/>
                </a:solidFill>
                <a:latin typeface="Calibri"/>
              </a:rPr>
              <a:t>Entity</a:t>
            </a:r>
          </a:p>
        </p:txBody>
      </p:sp>
      <p:sp>
        <p:nvSpPr>
          <p:cNvPr id="13" name="TextBox 12"/>
          <p:cNvSpPr txBox="1"/>
          <p:nvPr/>
        </p:nvSpPr>
        <p:spPr>
          <a:xfrm>
            <a:off x="7726679" y="2423160"/>
            <a:ext cx="1371600" cy="347472"/>
          </a:xfrm>
          <a:prstGeom prst="rect">
            <a:avLst/>
          </a:prstGeom>
          <a:noFill/>
        </p:spPr>
        <p:txBody>
          <a:bodyPr wrap="square">
            <a:spAutoFit/>
          </a:bodyPr>
          <a:lstStyle/>
          <a:p>
            <a:pPr algn="l"/>
            <a:r>
              <a:rPr sz="1300" b="1" i="0">
                <a:solidFill>
                  <a:srgbClr val="FFFFFF"/>
                </a:solidFill>
                <a:latin typeface="Calibri"/>
              </a:rPr>
              <a:t>PageRank</a:t>
            </a:r>
          </a:p>
        </p:txBody>
      </p:sp>
      <p:sp>
        <p:nvSpPr>
          <p:cNvPr id="14" name="TextBox 13"/>
          <p:cNvSpPr txBox="1"/>
          <p:nvPr/>
        </p:nvSpPr>
        <p:spPr>
          <a:xfrm>
            <a:off x="9144000" y="2423160"/>
            <a:ext cx="2743200" cy="347472"/>
          </a:xfrm>
          <a:prstGeom prst="rect">
            <a:avLst/>
          </a:prstGeom>
          <a:noFill/>
        </p:spPr>
        <p:txBody>
          <a:bodyPr wrap="square">
            <a:spAutoFit/>
          </a:bodyPr>
          <a:lstStyle/>
          <a:p>
            <a:pPr algn="l"/>
            <a:r>
              <a:rPr sz="1300" b="1" i="0">
                <a:solidFill>
                  <a:srgbClr val="FFFFFF"/>
                </a:solidFill>
                <a:latin typeface="Calibri"/>
              </a:rPr>
              <a:t>Significance</a:t>
            </a:r>
          </a:p>
        </p:txBody>
      </p:sp>
      <p:sp>
        <p:nvSpPr>
          <p:cNvPr id="15" name="Rectangle 14"/>
          <p:cNvSpPr/>
          <p:nvPr/>
        </p:nvSpPr>
        <p:spPr>
          <a:xfrm>
            <a:off x="5943600" y="2807208"/>
            <a:ext cx="5943600" cy="475488"/>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35040" y="2871216"/>
            <a:ext cx="1554480" cy="365760"/>
          </a:xfrm>
          <a:prstGeom prst="rect">
            <a:avLst/>
          </a:prstGeom>
          <a:noFill/>
        </p:spPr>
        <p:txBody>
          <a:bodyPr wrap="square">
            <a:spAutoFit/>
          </a:bodyPr>
          <a:lstStyle/>
          <a:p>
            <a:pPr algn="l"/>
            <a:r>
              <a:rPr sz="1400" b="1" i="0">
                <a:solidFill>
                  <a:srgbClr val="2B7A6F"/>
                </a:solidFill>
                <a:latin typeface="Calibri"/>
              </a:rPr>
              <a:t>Murugan</a:t>
            </a:r>
          </a:p>
        </p:txBody>
      </p:sp>
      <p:sp>
        <p:nvSpPr>
          <p:cNvPr id="17" name="Rectangle 16"/>
          <p:cNvSpPr/>
          <p:nvPr/>
        </p:nvSpPr>
        <p:spPr>
          <a:xfrm>
            <a:off x="7726679" y="2916936"/>
            <a:ext cx="1188720" cy="2560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70263" y="2871216"/>
            <a:ext cx="365760" cy="347472"/>
          </a:xfrm>
          <a:prstGeom prst="rect">
            <a:avLst/>
          </a:prstGeom>
          <a:noFill/>
        </p:spPr>
        <p:txBody>
          <a:bodyPr wrap="square">
            <a:spAutoFit/>
          </a:bodyPr>
          <a:lstStyle/>
          <a:p>
            <a:pPr algn="l"/>
            <a:r>
              <a:rPr sz="1200" b="1" i="0">
                <a:solidFill>
                  <a:srgbClr val="1A1A2E"/>
                </a:solidFill>
                <a:latin typeface="Calibri"/>
              </a:rPr>
              <a:t>1.00</a:t>
            </a:r>
          </a:p>
        </p:txBody>
      </p:sp>
      <p:sp>
        <p:nvSpPr>
          <p:cNvPr id="19" name="TextBox 18"/>
          <p:cNvSpPr txBox="1"/>
          <p:nvPr/>
        </p:nvSpPr>
        <p:spPr>
          <a:xfrm>
            <a:off x="9144000" y="2871216"/>
            <a:ext cx="2651760" cy="347472"/>
          </a:xfrm>
          <a:prstGeom prst="rect">
            <a:avLst/>
          </a:prstGeom>
          <a:noFill/>
        </p:spPr>
        <p:txBody>
          <a:bodyPr wrap="square">
            <a:spAutoFit/>
          </a:bodyPr>
          <a:lstStyle/>
          <a:p>
            <a:pPr algn="l"/>
            <a:r>
              <a:rPr sz="1200" b="0" i="0">
                <a:solidFill>
                  <a:srgbClr val="1A1A2E"/>
                </a:solidFill>
                <a:latin typeface="Calibri"/>
              </a:rPr>
              <a:t>Central deity of the corpus</a:t>
            </a:r>
          </a:p>
        </p:txBody>
      </p:sp>
      <p:sp>
        <p:nvSpPr>
          <p:cNvPr id="20" name="Rectangle 19"/>
          <p:cNvSpPr/>
          <p:nvPr/>
        </p:nvSpPr>
        <p:spPr>
          <a:xfrm>
            <a:off x="5943600" y="3282696"/>
            <a:ext cx="5943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3346704"/>
            <a:ext cx="1554480" cy="365760"/>
          </a:xfrm>
          <a:prstGeom prst="rect">
            <a:avLst/>
          </a:prstGeom>
          <a:noFill/>
        </p:spPr>
        <p:txBody>
          <a:bodyPr wrap="square">
            <a:spAutoFit/>
          </a:bodyPr>
          <a:lstStyle/>
          <a:p>
            <a:pPr algn="l"/>
            <a:r>
              <a:rPr sz="1400" b="0" i="0">
                <a:solidFill>
                  <a:srgbClr val="1A1A2E"/>
                </a:solidFill>
                <a:latin typeface="Calibri"/>
              </a:rPr>
              <a:t>Siva</a:t>
            </a:r>
          </a:p>
        </p:txBody>
      </p:sp>
      <p:sp>
        <p:nvSpPr>
          <p:cNvPr id="22" name="Rectangle 21"/>
          <p:cNvSpPr/>
          <p:nvPr/>
        </p:nvSpPr>
        <p:spPr>
          <a:xfrm>
            <a:off x="7726679" y="3392424"/>
            <a:ext cx="380390" cy="25603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61933" y="3346704"/>
            <a:ext cx="365760" cy="347472"/>
          </a:xfrm>
          <a:prstGeom prst="rect">
            <a:avLst/>
          </a:prstGeom>
          <a:noFill/>
        </p:spPr>
        <p:txBody>
          <a:bodyPr wrap="square">
            <a:spAutoFit/>
          </a:bodyPr>
          <a:lstStyle/>
          <a:p>
            <a:pPr algn="l"/>
            <a:r>
              <a:rPr sz="1200" b="1" i="0">
                <a:solidFill>
                  <a:srgbClr val="1A1A2E"/>
                </a:solidFill>
                <a:latin typeface="Calibri"/>
              </a:rPr>
              <a:t>0.32</a:t>
            </a:r>
          </a:p>
        </p:txBody>
      </p:sp>
      <p:sp>
        <p:nvSpPr>
          <p:cNvPr id="24" name="TextBox 23"/>
          <p:cNvSpPr txBox="1"/>
          <p:nvPr/>
        </p:nvSpPr>
        <p:spPr>
          <a:xfrm>
            <a:off x="9144000" y="3346704"/>
            <a:ext cx="2651760" cy="347472"/>
          </a:xfrm>
          <a:prstGeom prst="rect">
            <a:avLst/>
          </a:prstGeom>
          <a:noFill/>
        </p:spPr>
        <p:txBody>
          <a:bodyPr wrap="square">
            <a:spAutoFit/>
          </a:bodyPr>
          <a:lstStyle/>
          <a:p>
            <a:pPr algn="l"/>
            <a:r>
              <a:rPr sz="1200" b="0" i="0">
                <a:solidFill>
                  <a:srgbClr val="1A1A2E"/>
                </a:solidFill>
                <a:latin typeface="Calibri"/>
              </a:rPr>
              <a:t>Father of Murugan — mythological hub</a:t>
            </a:r>
          </a:p>
        </p:txBody>
      </p:sp>
      <p:sp>
        <p:nvSpPr>
          <p:cNvPr id="25" name="Rectangle 24"/>
          <p:cNvSpPr/>
          <p:nvPr/>
        </p:nvSpPr>
        <p:spPr>
          <a:xfrm>
            <a:off x="5943600" y="3758184"/>
            <a:ext cx="5943600" cy="475488"/>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035040" y="3822192"/>
            <a:ext cx="1554480" cy="365760"/>
          </a:xfrm>
          <a:prstGeom prst="rect">
            <a:avLst/>
          </a:prstGeom>
          <a:noFill/>
        </p:spPr>
        <p:txBody>
          <a:bodyPr wrap="square">
            <a:spAutoFit/>
          </a:bodyPr>
          <a:lstStyle/>
          <a:p>
            <a:pPr algn="l"/>
            <a:r>
              <a:rPr sz="1400" b="0" i="0">
                <a:solidFill>
                  <a:srgbClr val="1A1A2E"/>
                </a:solidFill>
                <a:latin typeface="Calibri"/>
              </a:rPr>
              <a:t>Valli</a:t>
            </a:r>
          </a:p>
        </p:txBody>
      </p:sp>
      <p:sp>
        <p:nvSpPr>
          <p:cNvPr id="27" name="Rectangle 26"/>
          <p:cNvSpPr/>
          <p:nvPr/>
        </p:nvSpPr>
        <p:spPr>
          <a:xfrm>
            <a:off x="7726679" y="3867912"/>
            <a:ext cx="356616" cy="25603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38159" y="3822192"/>
            <a:ext cx="365760" cy="347472"/>
          </a:xfrm>
          <a:prstGeom prst="rect">
            <a:avLst/>
          </a:prstGeom>
          <a:noFill/>
        </p:spPr>
        <p:txBody>
          <a:bodyPr wrap="square">
            <a:spAutoFit/>
          </a:bodyPr>
          <a:lstStyle/>
          <a:p>
            <a:pPr algn="l"/>
            <a:r>
              <a:rPr sz="1200" b="1" i="0">
                <a:solidFill>
                  <a:srgbClr val="1A1A2E"/>
                </a:solidFill>
                <a:latin typeface="Calibri"/>
              </a:rPr>
              <a:t>0.30</a:t>
            </a:r>
          </a:p>
        </p:txBody>
      </p:sp>
      <p:sp>
        <p:nvSpPr>
          <p:cNvPr id="29" name="TextBox 28"/>
          <p:cNvSpPr txBox="1"/>
          <p:nvPr/>
        </p:nvSpPr>
        <p:spPr>
          <a:xfrm>
            <a:off x="9144000" y="3822192"/>
            <a:ext cx="2651760" cy="347472"/>
          </a:xfrm>
          <a:prstGeom prst="rect">
            <a:avLst/>
          </a:prstGeom>
          <a:noFill/>
        </p:spPr>
        <p:txBody>
          <a:bodyPr wrap="square">
            <a:spAutoFit/>
          </a:bodyPr>
          <a:lstStyle/>
          <a:p>
            <a:pPr algn="l"/>
            <a:r>
              <a:rPr sz="1200" b="0" i="0">
                <a:solidFill>
                  <a:srgbClr val="1A1A2E"/>
                </a:solidFill>
                <a:latin typeface="Calibri"/>
              </a:rPr>
              <a:t>Consort — recurring narrative motif</a:t>
            </a:r>
          </a:p>
        </p:txBody>
      </p:sp>
      <p:sp>
        <p:nvSpPr>
          <p:cNvPr id="30" name="Rectangle 29"/>
          <p:cNvSpPr/>
          <p:nvPr/>
        </p:nvSpPr>
        <p:spPr>
          <a:xfrm>
            <a:off x="5943600" y="4233672"/>
            <a:ext cx="5943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35040" y="4297680"/>
            <a:ext cx="1554480" cy="365760"/>
          </a:xfrm>
          <a:prstGeom prst="rect">
            <a:avLst/>
          </a:prstGeom>
          <a:noFill/>
        </p:spPr>
        <p:txBody>
          <a:bodyPr wrap="square">
            <a:spAutoFit/>
          </a:bodyPr>
          <a:lstStyle/>
          <a:p>
            <a:pPr algn="l"/>
            <a:r>
              <a:rPr sz="1400" b="0" i="0">
                <a:solidFill>
                  <a:srgbClr val="1A1A2E"/>
                </a:solidFill>
                <a:latin typeface="Calibri"/>
              </a:rPr>
              <a:t>Brahma</a:t>
            </a:r>
          </a:p>
        </p:txBody>
      </p:sp>
      <p:sp>
        <p:nvSpPr>
          <p:cNvPr id="32" name="Rectangle 31"/>
          <p:cNvSpPr/>
          <p:nvPr/>
        </p:nvSpPr>
        <p:spPr>
          <a:xfrm>
            <a:off x="7726679" y="4343400"/>
            <a:ext cx="225856" cy="25603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07399" y="4297680"/>
            <a:ext cx="365760" cy="347472"/>
          </a:xfrm>
          <a:prstGeom prst="rect">
            <a:avLst/>
          </a:prstGeom>
          <a:noFill/>
        </p:spPr>
        <p:txBody>
          <a:bodyPr wrap="square">
            <a:spAutoFit/>
          </a:bodyPr>
          <a:lstStyle/>
          <a:p>
            <a:pPr algn="l"/>
            <a:r>
              <a:rPr sz="1200" b="1" i="0">
                <a:solidFill>
                  <a:srgbClr val="1A1A2E"/>
                </a:solidFill>
                <a:latin typeface="Calibri"/>
              </a:rPr>
              <a:t>0.19</a:t>
            </a:r>
          </a:p>
        </p:txBody>
      </p:sp>
      <p:sp>
        <p:nvSpPr>
          <p:cNvPr id="34" name="TextBox 33"/>
          <p:cNvSpPr txBox="1"/>
          <p:nvPr/>
        </p:nvSpPr>
        <p:spPr>
          <a:xfrm>
            <a:off x="9144000" y="4297680"/>
            <a:ext cx="2651760" cy="347472"/>
          </a:xfrm>
          <a:prstGeom prst="rect">
            <a:avLst/>
          </a:prstGeom>
          <a:noFill/>
        </p:spPr>
        <p:txBody>
          <a:bodyPr wrap="square">
            <a:spAutoFit/>
          </a:bodyPr>
          <a:lstStyle/>
          <a:p>
            <a:pPr algn="l"/>
            <a:r>
              <a:rPr sz="1200" b="0" i="0">
                <a:solidFill>
                  <a:srgbClr val="1A1A2E"/>
                </a:solidFill>
                <a:latin typeface="Calibri"/>
              </a:rPr>
              <a:t>Hindu cosmological reference</a:t>
            </a:r>
          </a:p>
        </p:txBody>
      </p:sp>
      <p:sp>
        <p:nvSpPr>
          <p:cNvPr id="35" name="Rectangle 34"/>
          <p:cNvSpPr/>
          <p:nvPr/>
        </p:nvSpPr>
        <p:spPr>
          <a:xfrm>
            <a:off x="5943600" y="4709160"/>
            <a:ext cx="5943600" cy="475488"/>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35040" y="4773168"/>
            <a:ext cx="1554480" cy="365760"/>
          </a:xfrm>
          <a:prstGeom prst="rect">
            <a:avLst/>
          </a:prstGeom>
          <a:noFill/>
        </p:spPr>
        <p:txBody>
          <a:bodyPr wrap="square">
            <a:spAutoFit/>
          </a:bodyPr>
          <a:lstStyle/>
          <a:p>
            <a:pPr algn="l"/>
            <a:r>
              <a:rPr sz="1400" b="0" i="0">
                <a:solidFill>
                  <a:srgbClr val="1A1A2E"/>
                </a:solidFill>
                <a:latin typeface="Calibri"/>
              </a:rPr>
              <a:t>Vishnu</a:t>
            </a:r>
          </a:p>
        </p:txBody>
      </p:sp>
      <p:sp>
        <p:nvSpPr>
          <p:cNvPr id="37" name="Rectangle 36"/>
          <p:cNvSpPr/>
          <p:nvPr/>
        </p:nvSpPr>
        <p:spPr>
          <a:xfrm>
            <a:off x="7726679" y="4818888"/>
            <a:ext cx="166420" cy="25603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947963" y="4773168"/>
            <a:ext cx="365760" cy="347472"/>
          </a:xfrm>
          <a:prstGeom prst="rect">
            <a:avLst/>
          </a:prstGeom>
          <a:noFill/>
        </p:spPr>
        <p:txBody>
          <a:bodyPr wrap="square">
            <a:spAutoFit/>
          </a:bodyPr>
          <a:lstStyle/>
          <a:p>
            <a:pPr algn="l"/>
            <a:r>
              <a:rPr sz="1200" b="1" i="0">
                <a:solidFill>
                  <a:srgbClr val="1A1A2E"/>
                </a:solidFill>
                <a:latin typeface="Calibri"/>
              </a:rPr>
              <a:t>0.14</a:t>
            </a:r>
          </a:p>
        </p:txBody>
      </p:sp>
      <p:sp>
        <p:nvSpPr>
          <p:cNvPr id="39" name="TextBox 38"/>
          <p:cNvSpPr txBox="1"/>
          <p:nvPr/>
        </p:nvSpPr>
        <p:spPr>
          <a:xfrm>
            <a:off x="9144000" y="4773168"/>
            <a:ext cx="2651760" cy="347472"/>
          </a:xfrm>
          <a:prstGeom prst="rect">
            <a:avLst/>
          </a:prstGeom>
          <a:noFill/>
        </p:spPr>
        <p:txBody>
          <a:bodyPr wrap="square">
            <a:spAutoFit/>
          </a:bodyPr>
          <a:lstStyle/>
          <a:p>
            <a:pPr algn="l"/>
            <a:r>
              <a:rPr sz="1200" b="0" i="0">
                <a:solidFill>
                  <a:srgbClr val="1A1A2E"/>
                </a:solidFill>
                <a:latin typeface="Calibri"/>
              </a:rPr>
              <a:t>Broader Hindu tradition</a:t>
            </a:r>
          </a:p>
        </p:txBody>
      </p:sp>
      <p:sp>
        <p:nvSpPr>
          <p:cNvPr id="40" name="Rectangle 39"/>
          <p:cNvSpPr/>
          <p:nvPr/>
        </p:nvSpPr>
        <p:spPr>
          <a:xfrm>
            <a:off x="5943600" y="5184648"/>
            <a:ext cx="59436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035040" y="5248656"/>
            <a:ext cx="1554480" cy="365760"/>
          </a:xfrm>
          <a:prstGeom prst="rect">
            <a:avLst/>
          </a:prstGeom>
          <a:noFill/>
        </p:spPr>
        <p:txBody>
          <a:bodyPr wrap="square">
            <a:spAutoFit/>
          </a:bodyPr>
          <a:lstStyle/>
          <a:p>
            <a:pPr algn="l"/>
            <a:r>
              <a:rPr sz="1400" b="0" i="0">
                <a:solidFill>
                  <a:srgbClr val="1A1A2E"/>
                </a:solidFill>
                <a:latin typeface="Calibri"/>
              </a:rPr>
              <a:t>Indra</a:t>
            </a:r>
          </a:p>
        </p:txBody>
      </p:sp>
      <p:sp>
        <p:nvSpPr>
          <p:cNvPr id="42" name="Rectangle 41"/>
          <p:cNvSpPr/>
          <p:nvPr/>
        </p:nvSpPr>
        <p:spPr>
          <a:xfrm>
            <a:off x="7726679" y="5294376"/>
            <a:ext cx="130759" cy="25603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912302" y="5248656"/>
            <a:ext cx="365760" cy="347472"/>
          </a:xfrm>
          <a:prstGeom prst="rect">
            <a:avLst/>
          </a:prstGeom>
          <a:noFill/>
        </p:spPr>
        <p:txBody>
          <a:bodyPr wrap="square">
            <a:spAutoFit/>
          </a:bodyPr>
          <a:lstStyle/>
          <a:p>
            <a:pPr algn="l"/>
            <a:r>
              <a:rPr sz="1200" b="1" i="0">
                <a:solidFill>
                  <a:srgbClr val="1A1A2E"/>
                </a:solidFill>
                <a:latin typeface="Calibri"/>
              </a:rPr>
              <a:t>0.11</a:t>
            </a:r>
          </a:p>
        </p:txBody>
      </p:sp>
      <p:sp>
        <p:nvSpPr>
          <p:cNvPr id="44" name="TextBox 43"/>
          <p:cNvSpPr txBox="1"/>
          <p:nvPr/>
        </p:nvSpPr>
        <p:spPr>
          <a:xfrm>
            <a:off x="9144000" y="5248656"/>
            <a:ext cx="2651760" cy="347472"/>
          </a:xfrm>
          <a:prstGeom prst="rect">
            <a:avLst/>
          </a:prstGeom>
          <a:noFill/>
        </p:spPr>
        <p:txBody>
          <a:bodyPr wrap="square">
            <a:spAutoFit/>
          </a:bodyPr>
          <a:lstStyle/>
          <a:p>
            <a:pPr algn="l"/>
            <a:r>
              <a:rPr sz="1200" b="0" i="0">
                <a:solidFill>
                  <a:srgbClr val="1A1A2E"/>
                </a:solidFill>
                <a:latin typeface="Calibri"/>
              </a:rPr>
              <a:t>Battle mythology connections</a:t>
            </a:r>
          </a:p>
        </p:txBody>
      </p:sp>
      <p:sp>
        <p:nvSpPr>
          <p:cNvPr id="45" name="Rectangle 44"/>
          <p:cNvSpPr/>
          <p:nvPr/>
        </p:nvSpPr>
        <p:spPr>
          <a:xfrm>
            <a:off x="5943600" y="5669280"/>
            <a:ext cx="5943600" cy="86868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943600" y="5669280"/>
            <a:ext cx="64008" cy="86868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126480" y="5742432"/>
            <a:ext cx="5669280" cy="731520"/>
          </a:xfrm>
          <a:prstGeom prst="rect">
            <a:avLst/>
          </a:prstGeom>
          <a:noFill/>
        </p:spPr>
        <p:txBody>
          <a:bodyPr wrap="square">
            <a:spAutoFit/>
          </a:bodyPr>
          <a:lstStyle/>
          <a:p>
            <a:pPr algn="l"/>
            <a:r>
              <a:rPr sz="1300" b="0" i="1">
                <a:solidFill>
                  <a:srgbClr val="1B2A4A"/>
                </a:solidFill>
                <a:latin typeface="Calibri"/>
              </a:rPr>
              <a:t>Insight: Murugan's score (1.0) is 3× higher than Siva's (0.32), reflecting the corpus's devotional focus. Siva and Valli's prominence reveals recurring mythological sub-networks centered on Murugan's family.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Key Results</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Themes · Sacred places · Mythological events</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sp>
        <p:nvSpPr>
          <p:cNvPr id="8" name="TextBox 7"/>
          <p:cNvSpPr txBox="1"/>
          <p:nvPr/>
        </p:nvSpPr>
        <p:spPr>
          <a:xfrm>
            <a:off x="365760" y="1463040"/>
            <a:ext cx="3657600" cy="411480"/>
          </a:xfrm>
          <a:prstGeom prst="rect">
            <a:avLst/>
          </a:prstGeom>
          <a:noFill/>
        </p:spPr>
        <p:txBody>
          <a:bodyPr wrap="square">
            <a:spAutoFit/>
          </a:bodyPr>
          <a:lstStyle/>
          <a:p>
            <a:pPr algn="l"/>
            <a:r>
              <a:rPr sz="1800" b="1" i="0">
                <a:solidFill>
                  <a:srgbClr val="1B2A4A"/>
                </a:solidFill>
                <a:latin typeface="Calibri"/>
              </a:rPr>
              <a:t>Dominant Themes</a:t>
            </a:r>
          </a:p>
        </p:txBody>
      </p:sp>
      <p:sp>
        <p:nvSpPr>
          <p:cNvPr id="9" name="TextBox 8"/>
          <p:cNvSpPr txBox="1"/>
          <p:nvPr/>
        </p:nvSpPr>
        <p:spPr>
          <a:xfrm>
            <a:off x="365760" y="1920240"/>
            <a:ext cx="2011680" cy="365760"/>
          </a:xfrm>
          <a:prstGeom prst="rect">
            <a:avLst/>
          </a:prstGeom>
          <a:noFill/>
        </p:spPr>
        <p:txBody>
          <a:bodyPr wrap="square">
            <a:spAutoFit/>
          </a:bodyPr>
          <a:lstStyle/>
          <a:p>
            <a:pPr algn="r"/>
            <a:r>
              <a:rPr sz="1200" b="0" i="0">
                <a:solidFill>
                  <a:srgbClr val="1A1A2E"/>
                </a:solidFill>
                <a:latin typeface="Calibri"/>
              </a:rPr>
              <a:t>Devotion to Murugan</a:t>
            </a:r>
          </a:p>
        </p:txBody>
      </p:sp>
      <p:sp>
        <p:nvSpPr>
          <p:cNvPr id="10" name="Rectangle 9"/>
          <p:cNvSpPr/>
          <p:nvPr/>
        </p:nvSpPr>
        <p:spPr>
          <a:xfrm>
            <a:off x="2423160" y="1975104"/>
            <a:ext cx="3017520" cy="3200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95544" y="1920240"/>
            <a:ext cx="457200" cy="365760"/>
          </a:xfrm>
          <a:prstGeom prst="rect">
            <a:avLst/>
          </a:prstGeom>
          <a:noFill/>
        </p:spPr>
        <p:txBody>
          <a:bodyPr wrap="square">
            <a:spAutoFit/>
          </a:bodyPr>
          <a:lstStyle/>
          <a:p>
            <a:pPr algn="l"/>
            <a:r>
              <a:rPr sz="1200" b="1" i="0">
                <a:solidFill>
                  <a:srgbClr val="1A1A2E"/>
                </a:solidFill>
                <a:latin typeface="Calibri"/>
              </a:rPr>
              <a:t>969</a:t>
            </a:r>
          </a:p>
        </p:txBody>
      </p:sp>
      <p:sp>
        <p:nvSpPr>
          <p:cNvPr id="12" name="TextBox 11"/>
          <p:cNvSpPr txBox="1"/>
          <p:nvPr/>
        </p:nvSpPr>
        <p:spPr>
          <a:xfrm>
            <a:off x="365760" y="2578608"/>
            <a:ext cx="2011680" cy="365760"/>
          </a:xfrm>
          <a:prstGeom prst="rect">
            <a:avLst/>
          </a:prstGeom>
          <a:noFill/>
        </p:spPr>
        <p:txBody>
          <a:bodyPr wrap="square">
            <a:spAutoFit/>
          </a:bodyPr>
          <a:lstStyle/>
          <a:p>
            <a:pPr algn="r"/>
            <a:r>
              <a:rPr sz="1200" b="0" i="0">
                <a:solidFill>
                  <a:srgbClr val="1A1A2E"/>
                </a:solidFill>
                <a:latin typeface="Calibri"/>
              </a:rPr>
              <a:t>Spiritual Longing</a:t>
            </a:r>
          </a:p>
        </p:txBody>
      </p:sp>
      <p:sp>
        <p:nvSpPr>
          <p:cNvPr id="13" name="Rectangle 12"/>
          <p:cNvSpPr/>
          <p:nvPr/>
        </p:nvSpPr>
        <p:spPr>
          <a:xfrm>
            <a:off x="2423160" y="2633472"/>
            <a:ext cx="728689" cy="32004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6713" y="2578608"/>
            <a:ext cx="457200" cy="365760"/>
          </a:xfrm>
          <a:prstGeom prst="rect">
            <a:avLst/>
          </a:prstGeom>
          <a:noFill/>
        </p:spPr>
        <p:txBody>
          <a:bodyPr wrap="square">
            <a:spAutoFit/>
          </a:bodyPr>
          <a:lstStyle/>
          <a:p>
            <a:pPr algn="l"/>
            <a:r>
              <a:rPr sz="1200" b="1" i="0">
                <a:solidFill>
                  <a:srgbClr val="1A1A2E"/>
                </a:solidFill>
                <a:latin typeface="Calibri"/>
              </a:rPr>
              <a:t>234</a:t>
            </a:r>
          </a:p>
        </p:txBody>
      </p:sp>
      <p:sp>
        <p:nvSpPr>
          <p:cNvPr id="15" name="TextBox 14"/>
          <p:cNvSpPr txBox="1"/>
          <p:nvPr/>
        </p:nvSpPr>
        <p:spPr>
          <a:xfrm>
            <a:off x="365760" y="3236976"/>
            <a:ext cx="2011680" cy="365760"/>
          </a:xfrm>
          <a:prstGeom prst="rect">
            <a:avLst/>
          </a:prstGeom>
          <a:noFill/>
        </p:spPr>
        <p:txBody>
          <a:bodyPr wrap="square">
            <a:spAutoFit/>
          </a:bodyPr>
          <a:lstStyle/>
          <a:p>
            <a:pPr algn="r"/>
            <a:r>
              <a:rPr sz="1200" b="0" i="0">
                <a:solidFill>
                  <a:srgbClr val="1A1A2E"/>
                </a:solidFill>
                <a:latin typeface="Calibri"/>
              </a:rPr>
              <a:t>Enlightenment</a:t>
            </a:r>
          </a:p>
        </p:txBody>
      </p:sp>
      <p:sp>
        <p:nvSpPr>
          <p:cNvPr id="16" name="Rectangle 15"/>
          <p:cNvSpPr/>
          <p:nvPr/>
        </p:nvSpPr>
        <p:spPr>
          <a:xfrm>
            <a:off x="2423160" y="3291840"/>
            <a:ext cx="523161" cy="32004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01185" y="3236976"/>
            <a:ext cx="457200" cy="365760"/>
          </a:xfrm>
          <a:prstGeom prst="rect">
            <a:avLst/>
          </a:prstGeom>
          <a:noFill/>
        </p:spPr>
        <p:txBody>
          <a:bodyPr wrap="square">
            <a:spAutoFit/>
          </a:bodyPr>
          <a:lstStyle/>
          <a:p>
            <a:pPr algn="l"/>
            <a:r>
              <a:rPr sz="1200" b="1" i="0">
                <a:solidFill>
                  <a:srgbClr val="1A1A2E"/>
                </a:solidFill>
                <a:latin typeface="Calibri"/>
              </a:rPr>
              <a:t>168</a:t>
            </a:r>
          </a:p>
        </p:txBody>
      </p:sp>
      <p:sp>
        <p:nvSpPr>
          <p:cNvPr id="18" name="TextBox 17"/>
          <p:cNvSpPr txBox="1"/>
          <p:nvPr/>
        </p:nvSpPr>
        <p:spPr>
          <a:xfrm>
            <a:off x="365760" y="3895344"/>
            <a:ext cx="2011680" cy="365760"/>
          </a:xfrm>
          <a:prstGeom prst="rect">
            <a:avLst/>
          </a:prstGeom>
          <a:noFill/>
        </p:spPr>
        <p:txBody>
          <a:bodyPr wrap="square">
            <a:spAutoFit/>
          </a:bodyPr>
          <a:lstStyle/>
          <a:p>
            <a:pPr algn="r"/>
            <a:r>
              <a:rPr sz="1200" b="0" i="0">
                <a:solidFill>
                  <a:srgbClr val="1A1A2E"/>
                </a:solidFill>
                <a:latin typeface="Calibri"/>
              </a:rPr>
              <a:t>Divine Intervention</a:t>
            </a:r>
          </a:p>
        </p:txBody>
      </p:sp>
      <p:sp>
        <p:nvSpPr>
          <p:cNvPr id="19" name="Rectangle 18"/>
          <p:cNvSpPr/>
          <p:nvPr/>
        </p:nvSpPr>
        <p:spPr>
          <a:xfrm>
            <a:off x="2423160" y="3950208"/>
            <a:ext cx="510705" cy="32004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88729" y="3895344"/>
            <a:ext cx="457200" cy="365760"/>
          </a:xfrm>
          <a:prstGeom prst="rect">
            <a:avLst/>
          </a:prstGeom>
          <a:noFill/>
        </p:spPr>
        <p:txBody>
          <a:bodyPr wrap="square">
            <a:spAutoFit/>
          </a:bodyPr>
          <a:lstStyle/>
          <a:p>
            <a:pPr algn="l"/>
            <a:r>
              <a:rPr sz="1200" b="1" i="0">
                <a:solidFill>
                  <a:srgbClr val="1A1A2E"/>
                </a:solidFill>
                <a:latin typeface="Calibri"/>
              </a:rPr>
              <a:t>164</a:t>
            </a:r>
          </a:p>
        </p:txBody>
      </p:sp>
      <p:sp>
        <p:nvSpPr>
          <p:cNvPr id="21" name="TextBox 20"/>
          <p:cNvSpPr txBox="1"/>
          <p:nvPr/>
        </p:nvSpPr>
        <p:spPr>
          <a:xfrm>
            <a:off x="365760" y="4553712"/>
            <a:ext cx="2011680" cy="365760"/>
          </a:xfrm>
          <a:prstGeom prst="rect">
            <a:avLst/>
          </a:prstGeom>
          <a:noFill/>
        </p:spPr>
        <p:txBody>
          <a:bodyPr wrap="square">
            <a:spAutoFit/>
          </a:bodyPr>
          <a:lstStyle/>
          <a:p>
            <a:pPr algn="r"/>
            <a:r>
              <a:rPr sz="1200" b="0" i="0">
                <a:solidFill>
                  <a:srgbClr val="1A1A2E"/>
                </a:solidFill>
                <a:latin typeface="Calibri"/>
              </a:rPr>
              <a:t>Spiritual Awakening</a:t>
            </a:r>
          </a:p>
        </p:txBody>
      </p:sp>
      <p:sp>
        <p:nvSpPr>
          <p:cNvPr id="22" name="Rectangle 21"/>
          <p:cNvSpPr/>
          <p:nvPr/>
        </p:nvSpPr>
        <p:spPr>
          <a:xfrm>
            <a:off x="2423160" y="4608576"/>
            <a:ext cx="463994" cy="32004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42018" y="4553712"/>
            <a:ext cx="457200" cy="365760"/>
          </a:xfrm>
          <a:prstGeom prst="rect">
            <a:avLst/>
          </a:prstGeom>
          <a:noFill/>
        </p:spPr>
        <p:txBody>
          <a:bodyPr wrap="square">
            <a:spAutoFit/>
          </a:bodyPr>
          <a:lstStyle/>
          <a:p>
            <a:pPr algn="l"/>
            <a:r>
              <a:rPr sz="1200" b="1" i="0">
                <a:solidFill>
                  <a:srgbClr val="1A1A2E"/>
                </a:solidFill>
                <a:latin typeface="Calibri"/>
              </a:rPr>
              <a:t>149</a:t>
            </a:r>
          </a:p>
        </p:txBody>
      </p:sp>
      <p:sp>
        <p:nvSpPr>
          <p:cNvPr id="24" name="TextBox 23"/>
          <p:cNvSpPr txBox="1"/>
          <p:nvPr/>
        </p:nvSpPr>
        <p:spPr>
          <a:xfrm>
            <a:off x="365760" y="5212080"/>
            <a:ext cx="2011680" cy="365760"/>
          </a:xfrm>
          <a:prstGeom prst="rect">
            <a:avLst/>
          </a:prstGeom>
          <a:noFill/>
        </p:spPr>
        <p:txBody>
          <a:bodyPr wrap="square">
            <a:spAutoFit/>
          </a:bodyPr>
          <a:lstStyle/>
          <a:p>
            <a:pPr algn="r"/>
            <a:r>
              <a:rPr sz="1200" b="0" i="0">
                <a:solidFill>
                  <a:srgbClr val="1A1A2E"/>
                </a:solidFill>
                <a:latin typeface="Calibri"/>
              </a:rPr>
              <a:t>Divine Protection</a:t>
            </a:r>
          </a:p>
        </p:txBody>
      </p:sp>
      <p:sp>
        <p:nvSpPr>
          <p:cNvPr id="25" name="Rectangle 24"/>
          <p:cNvSpPr/>
          <p:nvPr/>
        </p:nvSpPr>
        <p:spPr>
          <a:xfrm>
            <a:off x="2423160" y="5266944"/>
            <a:ext cx="407941" cy="32004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85965" y="5212080"/>
            <a:ext cx="457200" cy="365760"/>
          </a:xfrm>
          <a:prstGeom prst="rect">
            <a:avLst/>
          </a:prstGeom>
          <a:noFill/>
        </p:spPr>
        <p:txBody>
          <a:bodyPr wrap="square">
            <a:spAutoFit/>
          </a:bodyPr>
          <a:lstStyle/>
          <a:p>
            <a:pPr algn="l"/>
            <a:r>
              <a:rPr sz="1200" b="1" i="0">
                <a:solidFill>
                  <a:srgbClr val="1A1A2E"/>
                </a:solidFill>
                <a:latin typeface="Calibri"/>
              </a:rPr>
              <a:t>131</a:t>
            </a:r>
          </a:p>
        </p:txBody>
      </p:sp>
      <p:sp>
        <p:nvSpPr>
          <p:cNvPr id="27" name="TextBox 26"/>
          <p:cNvSpPr txBox="1"/>
          <p:nvPr/>
        </p:nvSpPr>
        <p:spPr>
          <a:xfrm>
            <a:off x="5989320" y="1463040"/>
            <a:ext cx="3657600" cy="411480"/>
          </a:xfrm>
          <a:prstGeom prst="rect">
            <a:avLst/>
          </a:prstGeom>
          <a:noFill/>
        </p:spPr>
        <p:txBody>
          <a:bodyPr wrap="square">
            <a:spAutoFit/>
          </a:bodyPr>
          <a:lstStyle/>
          <a:p>
            <a:pPr algn="l"/>
            <a:r>
              <a:rPr sz="1800" b="1" i="0">
                <a:solidFill>
                  <a:srgbClr val="1B2A4A"/>
                </a:solidFill>
                <a:latin typeface="Calibri"/>
              </a:rPr>
              <a:t>Most Referenced Sacred Places</a:t>
            </a:r>
          </a:p>
        </p:txBody>
      </p:sp>
      <p:sp>
        <p:nvSpPr>
          <p:cNvPr id="28" name="TextBox 27"/>
          <p:cNvSpPr txBox="1"/>
          <p:nvPr/>
        </p:nvSpPr>
        <p:spPr>
          <a:xfrm>
            <a:off x="5989320" y="1920240"/>
            <a:ext cx="2011680" cy="365760"/>
          </a:xfrm>
          <a:prstGeom prst="rect">
            <a:avLst/>
          </a:prstGeom>
          <a:noFill/>
        </p:spPr>
        <p:txBody>
          <a:bodyPr wrap="square">
            <a:spAutoFit/>
          </a:bodyPr>
          <a:lstStyle/>
          <a:p>
            <a:pPr algn="r"/>
            <a:r>
              <a:rPr sz="1200" b="0" i="0">
                <a:solidFill>
                  <a:srgbClr val="1A1A2E"/>
                </a:solidFill>
                <a:latin typeface="Calibri"/>
              </a:rPr>
              <a:t>Pazhani</a:t>
            </a:r>
          </a:p>
        </p:txBody>
      </p:sp>
      <p:sp>
        <p:nvSpPr>
          <p:cNvPr id="29" name="Rectangle 28"/>
          <p:cNvSpPr/>
          <p:nvPr/>
        </p:nvSpPr>
        <p:spPr>
          <a:xfrm>
            <a:off x="8046720" y="1975104"/>
            <a:ext cx="3017520" cy="3200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19104" y="1920240"/>
            <a:ext cx="457200" cy="365760"/>
          </a:xfrm>
          <a:prstGeom prst="rect">
            <a:avLst/>
          </a:prstGeom>
          <a:noFill/>
        </p:spPr>
        <p:txBody>
          <a:bodyPr wrap="square">
            <a:spAutoFit/>
          </a:bodyPr>
          <a:lstStyle/>
          <a:p>
            <a:pPr algn="l"/>
            <a:r>
              <a:rPr sz="1200" b="1" i="0">
                <a:solidFill>
                  <a:srgbClr val="1A1A2E"/>
                </a:solidFill>
                <a:latin typeface="Calibri"/>
              </a:rPr>
              <a:t>98</a:t>
            </a:r>
          </a:p>
        </p:txBody>
      </p:sp>
      <p:sp>
        <p:nvSpPr>
          <p:cNvPr id="31" name="TextBox 30"/>
          <p:cNvSpPr txBox="1"/>
          <p:nvPr/>
        </p:nvSpPr>
        <p:spPr>
          <a:xfrm>
            <a:off x="5989320" y="2578608"/>
            <a:ext cx="2011680" cy="365760"/>
          </a:xfrm>
          <a:prstGeom prst="rect">
            <a:avLst/>
          </a:prstGeom>
          <a:noFill/>
        </p:spPr>
        <p:txBody>
          <a:bodyPr wrap="square">
            <a:spAutoFit/>
          </a:bodyPr>
          <a:lstStyle/>
          <a:p>
            <a:pPr algn="r"/>
            <a:r>
              <a:rPr sz="1200" b="0" i="0">
                <a:solidFill>
                  <a:srgbClr val="1A1A2E"/>
                </a:solidFill>
                <a:latin typeface="Calibri"/>
              </a:rPr>
              <a:t>Thiruchchendhur</a:t>
            </a:r>
          </a:p>
        </p:txBody>
      </p:sp>
      <p:sp>
        <p:nvSpPr>
          <p:cNvPr id="32" name="Rectangle 31"/>
          <p:cNvSpPr/>
          <p:nvPr/>
        </p:nvSpPr>
        <p:spPr>
          <a:xfrm>
            <a:off x="8046720" y="2633472"/>
            <a:ext cx="2555654" cy="320040"/>
          </a:xfrm>
          <a:prstGeom prst="rect">
            <a:avLst/>
          </a:prstGeom>
          <a:solidFill>
            <a:srgbClr val="B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57238" y="2578608"/>
            <a:ext cx="457200" cy="365760"/>
          </a:xfrm>
          <a:prstGeom prst="rect">
            <a:avLst/>
          </a:prstGeom>
          <a:noFill/>
        </p:spPr>
        <p:txBody>
          <a:bodyPr wrap="square">
            <a:spAutoFit/>
          </a:bodyPr>
          <a:lstStyle/>
          <a:p>
            <a:pPr algn="l"/>
            <a:r>
              <a:rPr sz="1200" b="1" i="0">
                <a:solidFill>
                  <a:srgbClr val="1A1A2E"/>
                </a:solidFill>
                <a:latin typeface="Calibri"/>
              </a:rPr>
              <a:t>83</a:t>
            </a:r>
          </a:p>
        </p:txBody>
      </p:sp>
      <p:sp>
        <p:nvSpPr>
          <p:cNvPr id="34" name="TextBox 33"/>
          <p:cNvSpPr txBox="1"/>
          <p:nvPr/>
        </p:nvSpPr>
        <p:spPr>
          <a:xfrm>
            <a:off x="5989320" y="3236976"/>
            <a:ext cx="2011680" cy="365760"/>
          </a:xfrm>
          <a:prstGeom prst="rect">
            <a:avLst/>
          </a:prstGeom>
          <a:noFill/>
        </p:spPr>
        <p:txBody>
          <a:bodyPr wrap="square">
            <a:spAutoFit/>
          </a:bodyPr>
          <a:lstStyle/>
          <a:p>
            <a:pPr algn="r"/>
            <a:r>
              <a:rPr sz="1200" b="0" i="0">
                <a:solidFill>
                  <a:srgbClr val="1A1A2E"/>
                </a:solidFill>
                <a:latin typeface="Calibri"/>
              </a:rPr>
              <a:t>Thiruvarunai</a:t>
            </a:r>
          </a:p>
        </p:txBody>
      </p:sp>
      <p:sp>
        <p:nvSpPr>
          <p:cNvPr id="35" name="Rectangle 34"/>
          <p:cNvSpPr/>
          <p:nvPr/>
        </p:nvSpPr>
        <p:spPr>
          <a:xfrm>
            <a:off x="8046720" y="3291840"/>
            <a:ext cx="2494072" cy="320040"/>
          </a:xfrm>
          <a:prstGeom prst="rect">
            <a:avLst/>
          </a:prstGeom>
          <a:solidFill>
            <a:srgbClr val="B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595656" y="3236976"/>
            <a:ext cx="457200" cy="365760"/>
          </a:xfrm>
          <a:prstGeom prst="rect">
            <a:avLst/>
          </a:prstGeom>
          <a:noFill/>
        </p:spPr>
        <p:txBody>
          <a:bodyPr wrap="square">
            <a:spAutoFit/>
          </a:bodyPr>
          <a:lstStyle/>
          <a:p>
            <a:pPr algn="l"/>
            <a:r>
              <a:rPr sz="1200" b="1" i="0">
                <a:solidFill>
                  <a:srgbClr val="1A1A2E"/>
                </a:solidFill>
                <a:latin typeface="Calibri"/>
              </a:rPr>
              <a:t>81</a:t>
            </a:r>
          </a:p>
        </p:txBody>
      </p:sp>
      <p:sp>
        <p:nvSpPr>
          <p:cNvPr id="37" name="TextBox 36"/>
          <p:cNvSpPr txBox="1"/>
          <p:nvPr/>
        </p:nvSpPr>
        <p:spPr>
          <a:xfrm>
            <a:off x="5989320" y="3895344"/>
            <a:ext cx="2011680" cy="365760"/>
          </a:xfrm>
          <a:prstGeom prst="rect">
            <a:avLst/>
          </a:prstGeom>
          <a:noFill/>
        </p:spPr>
        <p:txBody>
          <a:bodyPr wrap="square">
            <a:spAutoFit/>
          </a:bodyPr>
          <a:lstStyle/>
          <a:p>
            <a:pPr algn="r"/>
            <a:r>
              <a:rPr sz="1200" b="0" i="0">
                <a:solidFill>
                  <a:srgbClr val="1A1A2E"/>
                </a:solidFill>
                <a:latin typeface="Calibri"/>
              </a:rPr>
              <a:t>Chidambaram</a:t>
            </a:r>
          </a:p>
        </p:txBody>
      </p:sp>
      <p:sp>
        <p:nvSpPr>
          <p:cNvPr id="38" name="Rectangle 37"/>
          <p:cNvSpPr/>
          <p:nvPr/>
        </p:nvSpPr>
        <p:spPr>
          <a:xfrm>
            <a:off x="8046720" y="3950208"/>
            <a:ext cx="2062998" cy="320040"/>
          </a:xfrm>
          <a:prstGeom prst="rect">
            <a:avLst/>
          </a:prstGeom>
          <a:solidFill>
            <a:srgbClr val="B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64582" y="3895344"/>
            <a:ext cx="457200" cy="365760"/>
          </a:xfrm>
          <a:prstGeom prst="rect">
            <a:avLst/>
          </a:prstGeom>
          <a:noFill/>
        </p:spPr>
        <p:txBody>
          <a:bodyPr wrap="square">
            <a:spAutoFit/>
          </a:bodyPr>
          <a:lstStyle/>
          <a:p>
            <a:pPr algn="l"/>
            <a:r>
              <a:rPr sz="1200" b="1" i="0">
                <a:solidFill>
                  <a:srgbClr val="1A1A2E"/>
                </a:solidFill>
                <a:latin typeface="Calibri"/>
              </a:rPr>
              <a:t>67</a:t>
            </a:r>
          </a:p>
        </p:txBody>
      </p:sp>
      <p:sp>
        <p:nvSpPr>
          <p:cNvPr id="40" name="TextBox 39"/>
          <p:cNvSpPr txBox="1"/>
          <p:nvPr/>
        </p:nvSpPr>
        <p:spPr>
          <a:xfrm>
            <a:off x="5989320" y="4553712"/>
            <a:ext cx="2011680" cy="365760"/>
          </a:xfrm>
          <a:prstGeom prst="rect">
            <a:avLst/>
          </a:prstGeom>
          <a:noFill/>
        </p:spPr>
        <p:txBody>
          <a:bodyPr wrap="square">
            <a:spAutoFit/>
          </a:bodyPr>
          <a:lstStyle/>
          <a:p>
            <a:pPr algn="r"/>
            <a:r>
              <a:rPr sz="1200" b="0" i="0">
                <a:solidFill>
                  <a:srgbClr val="1A1A2E"/>
                </a:solidFill>
                <a:latin typeface="Calibri"/>
              </a:rPr>
              <a:t>Thiruththanigai</a:t>
            </a:r>
          </a:p>
        </p:txBody>
      </p:sp>
      <p:sp>
        <p:nvSpPr>
          <p:cNvPr id="41" name="Rectangle 40"/>
          <p:cNvSpPr/>
          <p:nvPr/>
        </p:nvSpPr>
        <p:spPr>
          <a:xfrm>
            <a:off x="8046720" y="4608576"/>
            <a:ext cx="1970625" cy="320040"/>
          </a:xfrm>
          <a:prstGeom prst="rect">
            <a:avLst/>
          </a:prstGeom>
          <a:solidFill>
            <a:srgbClr val="B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072209" y="4553712"/>
            <a:ext cx="457200" cy="365760"/>
          </a:xfrm>
          <a:prstGeom prst="rect">
            <a:avLst/>
          </a:prstGeom>
          <a:noFill/>
        </p:spPr>
        <p:txBody>
          <a:bodyPr wrap="square">
            <a:spAutoFit/>
          </a:bodyPr>
          <a:lstStyle/>
          <a:p>
            <a:pPr algn="l"/>
            <a:r>
              <a:rPr sz="1200" b="1" i="0">
                <a:solidFill>
                  <a:srgbClr val="1A1A2E"/>
                </a:solidFill>
                <a:latin typeface="Calibri"/>
              </a:rPr>
              <a:t>64</a:t>
            </a:r>
          </a:p>
        </p:txBody>
      </p:sp>
      <p:sp>
        <p:nvSpPr>
          <p:cNvPr id="43" name="Rectangle 42"/>
          <p:cNvSpPr/>
          <p:nvPr/>
        </p:nvSpPr>
        <p:spPr>
          <a:xfrm>
            <a:off x="5806440" y="1463040"/>
            <a:ext cx="36576" cy="5029200"/>
          </a:xfrm>
          <a:prstGeom prst="rect">
            <a:avLst/>
          </a:prstGeom>
          <a:solidFill>
            <a:srgbClr val="E8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65759" y="5613525"/>
            <a:ext cx="11457305" cy="923544"/>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65760" y="5669280"/>
            <a:ext cx="64008" cy="9601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94360" y="5715000"/>
            <a:ext cx="3657600" cy="365760"/>
          </a:xfrm>
          <a:prstGeom prst="rect">
            <a:avLst/>
          </a:prstGeom>
          <a:noFill/>
        </p:spPr>
        <p:txBody>
          <a:bodyPr wrap="square">
            <a:spAutoFit/>
          </a:bodyPr>
          <a:lstStyle/>
          <a:p>
            <a:pPr algn="l"/>
            <a:r>
              <a:rPr sz="1500" b="1" i="0">
                <a:solidFill>
                  <a:srgbClr val="1B2A4A"/>
                </a:solidFill>
                <a:latin typeface="Calibri"/>
              </a:rPr>
              <a:t>Top Mythological Events</a:t>
            </a:r>
          </a:p>
        </p:txBody>
      </p:sp>
      <p:sp>
        <p:nvSpPr>
          <p:cNvPr id="47" name="Rectangle 46"/>
          <p:cNvSpPr/>
          <p:nvPr/>
        </p:nvSpPr>
        <p:spPr>
          <a:xfrm>
            <a:off x="594360" y="6035040"/>
            <a:ext cx="201168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7512" y="6080760"/>
            <a:ext cx="1920240" cy="411480"/>
          </a:xfrm>
          <a:prstGeom prst="rect">
            <a:avLst/>
          </a:prstGeom>
          <a:noFill/>
        </p:spPr>
        <p:txBody>
          <a:bodyPr wrap="square">
            <a:spAutoFit/>
          </a:bodyPr>
          <a:lstStyle/>
          <a:p>
            <a:pPr algn="l"/>
            <a:r>
              <a:rPr sz="1100" b="0" i="0">
                <a:solidFill>
                  <a:srgbClr val="FFFFFF"/>
                </a:solidFill>
                <a:latin typeface="Calibri"/>
              </a:rPr>
              <a:t>Murugan defeats Suran  (45)</a:t>
            </a:r>
          </a:p>
        </p:txBody>
      </p:sp>
      <p:sp>
        <p:nvSpPr>
          <p:cNvPr id="49" name="Rectangle 48"/>
          <p:cNvSpPr/>
          <p:nvPr/>
        </p:nvSpPr>
        <p:spPr>
          <a:xfrm>
            <a:off x="2807208" y="6035040"/>
            <a:ext cx="201168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880360" y="6080760"/>
            <a:ext cx="1920240" cy="411480"/>
          </a:xfrm>
          <a:prstGeom prst="rect">
            <a:avLst/>
          </a:prstGeom>
          <a:noFill/>
        </p:spPr>
        <p:txBody>
          <a:bodyPr wrap="square">
            <a:spAutoFit/>
          </a:bodyPr>
          <a:lstStyle/>
          <a:p>
            <a:pPr algn="l"/>
            <a:r>
              <a:rPr sz="1100" b="0" i="0">
                <a:solidFill>
                  <a:srgbClr val="FFFFFF"/>
                </a:solidFill>
                <a:latin typeface="Calibri"/>
              </a:rPr>
              <a:t>Victory over demons  (41)</a:t>
            </a:r>
          </a:p>
        </p:txBody>
      </p:sp>
      <p:sp>
        <p:nvSpPr>
          <p:cNvPr id="51" name="Rectangle 50"/>
          <p:cNvSpPr/>
          <p:nvPr/>
        </p:nvSpPr>
        <p:spPr>
          <a:xfrm>
            <a:off x="5020056" y="6035040"/>
            <a:ext cx="201168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093208" y="6080760"/>
            <a:ext cx="1920240" cy="411480"/>
          </a:xfrm>
          <a:prstGeom prst="rect">
            <a:avLst/>
          </a:prstGeom>
          <a:noFill/>
        </p:spPr>
        <p:txBody>
          <a:bodyPr wrap="square">
            <a:spAutoFit/>
          </a:bodyPr>
          <a:lstStyle/>
          <a:p>
            <a:pPr algn="l"/>
            <a:r>
              <a:rPr sz="1100" b="0" i="0">
                <a:solidFill>
                  <a:srgbClr val="FFFFFF"/>
                </a:solidFill>
                <a:latin typeface="Calibri"/>
              </a:rPr>
              <a:t>Destruction of Suran  (33)</a:t>
            </a:r>
          </a:p>
        </p:txBody>
      </p:sp>
      <p:sp>
        <p:nvSpPr>
          <p:cNvPr id="53" name="Rectangle 52"/>
          <p:cNvSpPr/>
          <p:nvPr/>
        </p:nvSpPr>
        <p:spPr>
          <a:xfrm>
            <a:off x="7232904" y="6035040"/>
            <a:ext cx="201168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306056" y="6080760"/>
            <a:ext cx="1920240" cy="411480"/>
          </a:xfrm>
          <a:prstGeom prst="rect">
            <a:avLst/>
          </a:prstGeom>
          <a:noFill/>
        </p:spPr>
        <p:txBody>
          <a:bodyPr wrap="square">
            <a:spAutoFit/>
          </a:bodyPr>
          <a:lstStyle/>
          <a:p>
            <a:pPr algn="l"/>
            <a:r>
              <a:rPr sz="1100" b="0" i="0">
                <a:solidFill>
                  <a:srgbClr val="FFFFFF"/>
                </a:solidFill>
                <a:latin typeface="Calibri"/>
              </a:rPr>
              <a:t>Marriage to Valli  (28)</a:t>
            </a:r>
          </a:p>
        </p:txBody>
      </p:sp>
      <p:sp>
        <p:nvSpPr>
          <p:cNvPr id="55" name="Rectangle 54"/>
          <p:cNvSpPr/>
          <p:nvPr/>
        </p:nvSpPr>
        <p:spPr>
          <a:xfrm>
            <a:off x="9445752" y="6035040"/>
            <a:ext cx="201168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518904" y="6080760"/>
            <a:ext cx="1920240" cy="411480"/>
          </a:xfrm>
          <a:prstGeom prst="rect">
            <a:avLst/>
          </a:prstGeom>
          <a:noFill/>
        </p:spPr>
        <p:txBody>
          <a:bodyPr wrap="square">
            <a:spAutoFit/>
          </a:bodyPr>
          <a:lstStyle/>
          <a:p>
            <a:pPr algn="l"/>
            <a:r>
              <a:rPr sz="1100" b="0" i="0">
                <a:solidFill>
                  <a:srgbClr val="FFFFFF"/>
                </a:solidFill>
                <a:latin typeface="Calibri"/>
              </a:rPr>
              <a:t>Churning of the ocean  (22)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Murugan-Centered Devotional Network</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Murugan as the central hub — direct connections to hymn nodes and their associated semantic attributes</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pic>
        <p:nvPicPr>
          <p:cNvPr id="8" name="Picture 7" descr="visualisation.png"/>
          <p:cNvPicPr>
            <a:picLocks noChangeAspect="1"/>
          </p:cNvPicPr>
          <p:nvPr/>
        </p:nvPicPr>
        <p:blipFill>
          <a:blip r:embed="rId2"/>
          <a:stretch>
            <a:fillRect/>
          </a:stretch>
        </p:blipFill>
        <p:spPr>
          <a:xfrm>
            <a:off x="3622856" y="1234440"/>
            <a:ext cx="5212080" cy="5029200"/>
          </a:xfrm>
          <a:prstGeom prst="rect">
            <a:avLst/>
          </a:prstGeom>
        </p:spPr>
      </p:pic>
      <p:pic>
        <p:nvPicPr>
          <p:cNvPr id="9" name="Picture 8" descr="visualisation1.png"/>
          <p:cNvPicPr>
            <a:picLocks noChangeAspect="1"/>
          </p:cNvPicPr>
          <p:nvPr/>
        </p:nvPicPr>
        <p:blipFill>
          <a:blip r:embed="rId3"/>
          <a:stretch>
            <a:fillRect/>
          </a:stretch>
        </p:blipFill>
        <p:spPr>
          <a:xfrm>
            <a:off x="210185" y="2004822"/>
            <a:ext cx="3657600" cy="3840480"/>
          </a:xfrm>
          <a:prstGeom prst="rect">
            <a:avLst/>
          </a:prstGeom>
        </p:spPr>
      </p:pic>
      <p:sp>
        <p:nvSpPr>
          <p:cNvPr id="10" name="Rectangle 9"/>
          <p:cNvSpPr/>
          <p:nvPr/>
        </p:nvSpPr>
        <p:spPr>
          <a:xfrm>
            <a:off x="8823960" y="1508760"/>
            <a:ext cx="3246120" cy="5029200"/>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823960" y="1508760"/>
            <a:ext cx="54864" cy="50292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06840" y="1645920"/>
            <a:ext cx="2926080" cy="457200"/>
          </a:xfrm>
          <a:prstGeom prst="rect">
            <a:avLst/>
          </a:prstGeom>
          <a:noFill/>
        </p:spPr>
        <p:txBody>
          <a:bodyPr wrap="square">
            <a:spAutoFit/>
          </a:bodyPr>
          <a:lstStyle/>
          <a:p>
            <a:pPr algn="l"/>
            <a:r>
              <a:rPr sz="1800" b="1" i="0">
                <a:solidFill>
                  <a:srgbClr val="C8A951"/>
                </a:solidFill>
                <a:latin typeface="Calibri"/>
              </a:rPr>
              <a:t>Network Structure</a:t>
            </a:r>
          </a:p>
        </p:txBody>
      </p:sp>
      <p:sp>
        <p:nvSpPr>
          <p:cNvPr id="13" name="Rectangle 12"/>
          <p:cNvSpPr/>
          <p:nvPr/>
        </p:nvSpPr>
        <p:spPr>
          <a:xfrm>
            <a:off x="9006840" y="2194560"/>
            <a:ext cx="45720" cy="5029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0" y="2194560"/>
            <a:ext cx="2834640" cy="685800"/>
          </a:xfrm>
          <a:prstGeom prst="rect">
            <a:avLst/>
          </a:prstGeom>
          <a:noFill/>
        </p:spPr>
        <p:txBody>
          <a:bodyPr wrap="square">
            <a:spAutoFit/>
          </a:bodyPr>
          <a:lstStyle/>
          <a:p>
            <a:pPr algn="l"/>
            <a:r>
              <a:rPr sz="1200" b="0" i="0">
                <a:solidFill>
                  <a:srgbClr val="FFFFFF"/>
                </a:solidFill>
                <a:latin typeface="Calibri"/>
              </a:rPr>
              <a:t>Murugan node connects to all 1,335 Song nodes via MENTIONS_ENTITY</a:t>
            </a:r>
          </a:p>
        </p:txBody>
      </p:sp>
      <p:sp>
        <p:nvSpPr>
          <p:cNvPr id="15" name="Rectangle 14"/>
          <p:cNvSpPr/>
          <p:nvPr/>
        </p:nvSpPr>
        <p:spPr>
          <a:xfrm>
            <a:off x="9006840" y="2971800"/>
            <a:ext cx="45720" cy="5029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971800"/>
            <a:ext cx="2834640" cy="685800"/>
          </a:xfrm>
          <a:prstGeom prst="rect">
            <a:avLst/>
          </a:prstGeom>
          <a:noFill/>
        </p:spPr>
        <p:txBody>
          <a:bodyPr wrap="square">
            <a:spAutoFit/>
          </a:bodyPr>
          <a:lstStyle/>
          <a:p>
            <a:pPr algn="l"/>
            <a:r>
              <a:rPr sz="1200" b="0" i="0">
                <a:solidFill>
                  <a:srgbClr val="FFFFFF"/>
                </a:solidFill>
                <a:latin typeface="Calibri"/>
              </a:rPr>
              <a:t>Each Song links outward to Theme, MythEvent, Imagery, Place, and Philosophy nodes</a:t>
            </a:r>
          </a:p>
        </p:txBody>
      </p:sp>
      <p:sp>
        <p:nvSpPr>
          <p:cNvPr id="17" name="Rectangle 16"/>
          <p:cNvSpPr/>
          <p:nvPr/>
        </p:nvSpPr>
        <p:spPr>
          <a:xfrm>
            <a:off x="9006840" y="3749040"/>
            <a:ext cx="45720" cy="5029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0" y="3749040"/>
            <a:ext cx="2834640" cy="685800"/>
          </a:xfrm>
          <a:prstGeom prst="rect">
            <a:avLst/>
          </a:prstGeom>
          <a:noFill/>
        </p:spPr>
        <p:txBody>
          <a:bodyPr wrap="square">
            <a:spAutoFit/>
          </a:bodyPr>
          <a:lstStyle/>
          <a:p>
            <a:pPr algn="l"/>
            <a:r>
              <a:rPr sz="1200" b="0" i="0">
                <a:solidFill>
                  <a:srgbClr val="FFFFFF"/>
                </a:solidFill>
                <a:latin typeface="Calibri"/>
              </a:rPr>
              <a:t>Siva and Valli form secondary hubs — dense sub-clusters around Murugan's family</a:t>
            </a:r>
          </a:p>
        </p:txBody>
      </p:sp>
      <p:sp>
        <p:nvSpPr>
          <p:cNvPr id="19" name="Rectangle 18"/>
          <p:cNvSpPr/>
          <p:nvPr/>
        </p:nvSpPr>
        <p:spPr>
          <a:xfrm>
            <a:off x="9006840" y="4526280"/>
            <a:ext cx="45720" cy="5029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0" y="4526280"/>
            <a:ext cx="2834640" cy="685800"/>
          </a:xfrm>
          <a:prstGeom prst="rect">
            <a:avLst/>
          </a:prstGeom>
          <a:noFill/>
        </p:spPr>
        <p:txBody>
          <a:bodyPr wrap="square">
            <a:spAutoFit/>
          </a:bodyPr>
          <a:lstStyle/>
          <a:p>
            <a:pPr algn="l"/>
            <a:r>
              <a:rPr sz="1200" b="0" i="0">
                <a:solidFill>
                  <a:srgbClr val="FFFFFF"/>
                </a:solidFill>
                <a:latin typeface="Calibri"/>
              </a:rPr>
              <a:t>Louvain community detection found 9,758 communities — thematic clusters including battle mythology, sacred geography, and devotional philosophy</a:t>
            </a:r>
          </a:p>
        </p:txBody>
      </p:sp>
      <p:sp>
        <p:nvSpPr>
          <p:cNvPr id="21" name="Rectangle 20"/>
          <p:cNvSpPr/>
          <p:nvPr/>
        </p:nvSpPr>
        <p:spPr>
          <a:xfrm>
            <a:off x="9006840" y="5303520"/>
            <a:ext cx="45720" cy="5029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0" y="5303520"/>
            <a:ext cx="2834640" cy="685800"/>
          </a:xfrm>
          <a:prstGeom prst="rect">
            <a:avLst/>
          </a:prstGeom>
          <a:noFill/>
        </p:spPr>
        <p:txBody>
          <a:bodyPr wrap="square">
            <a:spAutoFit/>
          </a:bodyPr>
          <a:lstStyle/>
          <a:p>
            <a:pPr algn="l"/>
            <a:r>
              <a:rPr sz="1200" b="0" i="0">
                <a:solidFill>
                  <a:srgbClr val="FFFFFF"/>
                </a:solidFill>
                <a:latin typeface="Calibri"/>
              </a:rPr>
              <a:t>PageRank confirms Murugan's centrality score = 1.0 (normalized)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Limitations &amp; Future Work</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What we learned and where we go next</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sp>
        <p:nvSpPr>
          <p:cNvPr id="8" name="Rectangle 7"/>
          <p:cNvSpPr/>
          <p:nvPr/>
        </p:nvSpPr>
        <p:spPr>
          <a:xfrm>
            <a:off x="365760" y="1508760"/>
            <a:ext cx="5394960" cy="402336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508760"/>
            <a:ext cx="54864" cy="402336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618488"/>
            <a:ext cx="5212080" cy="3840480"/>
          </a:xfrm>
          <a:prstGeom prst="rect">
            <a:avLst/>
          </a:prstGeom>
          <a:noFill/>
        </p:spPr>
        <p:txBody>
          <a:bodyPr wrap="square">
            <a:spAutoFit/>
          </a:bodyPr>
          <a:lstStyle/>
          <a:p>
            <a:pPr algn="l"/>
            <a:r>
              <a:rPr sz="1900" b="1">
                <a:solidFill>
                  <a:srgbClr val="B04040"/>
                </a:solidFill>
                <a:latin typeface="Calibri"/>
              </a:rPr>
              <a:t>Current Limitations</a:t>
            </a:r>
          </a:p>
          <a:p>
            <a:pPr algn="l">
              <a:spcBef>
                <a:spcPts val="400"/>
              </a:spcBef>
            </a:pPr>
            <a:r>
              <a:rPr sz="1700">
                <a:solidFill>
                  <a:srgbClr val="1A1A2E"/>
                </a:solidFill>
                <a:latin typeface="Calibri"/>
              </a:rPr>
              <a:t>▸  Manual annotation limits scalability to larger corpora</a:t>
            </a:r>
          </a:p>
          <a:p>
            <a:pPr algn="l">
              <a:spcBef>
                <a:spcPts val="400"/>
              </a:spcBef>
            </a:pPr>
            <a:r>
              <a:rPr sz="1700">
                <a:solidFill>
                  <a:srgbClr val="1A1A2E"/>
                </a:solidFill>
                <a:latin typeface="Calibri"/>
              </a:rPr>
              <a:t>▸  Current schema covers 6 node types; poetic structure and linguistic features not yet modeled</a:t>
            </a:r>
          </a:p>
          <a:p>
            <a:pPr algn="l">
              <a:spcBef>
                <a:spcPts val="400"/>
              </a:spcBef>
            </a:pPr>
            <a:r>
              <a:rPr sz="1700">
                <a:solidFill>
                  <a:srgbClr val="1A1A2E"/>
                </a:solidFill>
                <a:latin typeface="Calibri"/>
              </a:rPr>
              <a:t>▸  No automated NLP pipeline — dependency on human annotators for Tamil text</a:t>
            </a:r>
          </a:p>
          <a:p>
            <a:pPr algn="l">
              <a:spcBef>
                <a:spcPts val="400"/>
              </a:spcBef>
            </a:pPr>
            <a:r>
              <a:rPr sz="1700">
                <a:solidFill>
                  <a:srgbClr val="1A1A2E"/>
                </a:solidFill>
                <a:latin typeface="Calibri"/>
              </a:rPr>
              <a:t>▸  Graph embeddings and link prediction not yet applied</a:t>
            </a:r>
          </a:p>
          <a:p>
            <a:pPr algn="l">
              <a:spcBef>
                <a:spcPts val="400"/>
              </a:spcBef>
            </a:pPr>
            <a:r>
              <a:rPr sz="1700">
                <a:solidFill>
                  <a:srgbClr val="1A1A2E"/>
                </a:solidFill>
                <a:latin typeface="Calibri"/>
              </a:rPr>
              <a:t>▸  Interactive visualization tools for scholars not yet built</a:t>
            </a:r>
          </a:p>
        </p:txBody>
      </p:sp>
      <p:sp>
        <p:nvSpPr>
          <p:cNvPr id="11" name="Rectangle 10"/>
          <p:cNvSpPr/>
          <p:nvPr/>
        </p:nvSpPr>
        <p:spPr>
          <a:xfrm>
            <a:off x="6035040" y="1508760"/>
            <a:ext cx="5760720" cy="402336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35040" y="1508760"/>
            <a:ext cx="54864" cy="402336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72200" y="1618488"/>
            <a:ext cx="5577840" cy="3840480"/>
          </a:xfrm>
          <a:prstGeom prst="rect">
            <a:avLst/>
          </a:prstGeom>
          <a:noFill/>
        </p:spPr>
        <p:txBody>
          <a:bodyPr wrap="square">
            <a:spAutoFit/>
          </a:bodyPr>
          <a:lstStyle/>
          <a:p>
            <a:pPr algn="l"/>
            <a:r>
              <a:rPr sz="1900" b="1">
                <a:solidFill>
                  <a:srgbClr val="2B7A6F"/>
                </a:solidFill>
                <a:latin typeface="Calibri"/>
              </a:rPr>
              <a:t>Future Directions</a:t>
            </a:r>
          </a:p>
          <a:p>
            <a:pPr algn="l">
              <a:spcBef>
                <a:spcPts val="400"/>
              </a:spcBef>
            </a:pPr>
            <a:r>
              <a:rPr sz="1700">
                <a:solidFill>
                  <a:srgbClr val="1A1A2E"/>
                </a:solidFill>
                <a:latin typeface="Calibri"/>
              </a:rPr>
              <a:t>▸  Automated Tamil NLP for entity &amp; event extraction (NER, relation extraction)</a:t>
            </a:r>
          </a:p>
          <a:p>
            <a:pPr algn="l">
              <a:spcBef>
                <a:spcPts val="400"/>
              </a:spcBef>
            </a:pPr>
            <a:r>
              <a:rPr sz="1700">
                <a:solidFill>
                  <a:srgbClr val="1A1A2E"/>
                </a:solidFill>
                <a:latin typeface="Calibri"/>
              </a:rPr>
              <a:t>▸  Extend schema with poetic meter (chandas), linguistic features, intertextual references</a:t>
            </a:r>
          </a:p>
          <a:p>
            <a:pPr algn="l">
              <a:spcBef>
                <a:spcPts val="400"/>
              </a:spcBef>
            </a:pPr>
            <a:r>
              <a:rPr sz="1700">
                <a:solidFill>
                  <a:srgbClr val="1A1A2E"/>
                </a:solidFill>
                <a:latin typeface="Calibri"/>
              </a:rPr>
              <a:t>▸  Apply knowledge graph embeddings (TransE, RotatE) for link prediction</a:t>
            </a:r>
          </a:p>
          <a:p>
            <a:pPr algn="l">
              <a:spcBef>
                <a:spcPts val="400"/>
              </a:spcBef>
            </a:pPr>
            <a:r>
              <a:rPr sz="1700">
                <a:solidFill>
                  <a:srgbClr val="1A1A2E"/>
                </a:solidFill>
                <a:latin typeface="Calibri"/>
              </a:rPr>
              <a:t>▸  Develop interactive visualization dashboard for digital humanities scholars</a:t>
            </a:r>
          </a:p>
          <a:p>
            <a:pPr algn="l">
              <a:spcBef>
                <a:spcPts val="400"/>
              </a:spcBef>
            </a:pPr>
            <a:r>
              <a:rPr sz="1700">
                <a:solidFill>
                  <a:srgbClr val="1A1A2E"/>
                </a:solidFill>
                <a:latin typeface="Calibri"/>
              </a:rPr>
              <a:t>▸  Generalize framework to other classical Tamil/South Asian devotional texts</a:t>
            </a:r>
          </a:p>
          <a:p>
            <a:pPr algn="l">
              <a:spcBef>
                <a:spcPts val="400"/>
              </a:spcBef>
            </a:pPr>
            <a:r>
              <a:rPr sz="1700">
                <a:solidFill>
                  <a:srgbClr val="1A1A2E"/>
                </a:solidFill>
                <a:latin typeface="Calibri"/>
              </a:rPr>
              <a:t>▸  Release benchmark tasks: theme classification, entity linking, place disambiguation</a:t>
            </a:r>
          </a:p>
        </p:txBody>
      </p:sp>
      <p:sp>
        <p:nvSpPr>
          <p:cNvPr id="14" name="Rectangle 13"/>
          <p:cNvSpPr/>
          <p:nvPr/>
        </p:nvSpPr>
        <p:spPr>
          <a:xfrm>
            <a:off x="365760" y="5715000"/>
            <a:ext cx="11430000" cy="868680"/>
          </a:xfrm>
          <a:prstGeom prst="rect">
            <a:avLst/>
          </a:prstGeom>
          <a:solidFill>
            <a:srgbClr val="F5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5715000"/>
            <a:ext cx="64008" cy="86868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5806440"/>
            <a:ext cx="11064240" cy="685800"/>
          </a:xfrm>
          <a:prstGeom prst="rect">
            <a:avLst/>
          </a:prstGeom>
          <a:noFill/>
        </p:spPr>
        <p:txBody>
          <a:bodyPr wrap="square">
            <a:spAutoFit/>
          </a:bodyPr>
          <a:lstStyle/>
          <a:p>
            <a:pPr algn="l"/>
            <a:r>
              <a:rPr sz="1500" b="0" i="1">
                <a:solidFill>
                  <a:srgbClr val="1B2A4A"/>
                </a:solidFill>
                <a:latin typeface="Calibri"/>
              </a:rPr>
              <a:t>Long-term goal: establish Thiruppugazh-KG as a benchmark resource for computational analysis of low-resource classical languages in the digital humanities.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34440"/>
            <a:ext cx="12188952" cy="5029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640080"/>
          </a:xfrm>
          <a:prstGeom prst="rect">
            <a:avLst/>
          </a:prstGeom>
          <a:noFill/>
        </p:spPr>
        <p:txBody>
          <a:bodyPr wrap="square">
            <a:spAutoFit/>
          </a:bodyPr>
          <a:lstStyle/>
          <a:p>
            <a:pPr algn="l"/>
            <a:r>
              <a:rPr sz="3000" b="1" i="0">
                <a:solidFill>
                  <a:srgbClr val="FFFFFF"/>
                </a:solidFill>
                <a:latin typeface="Calibri"/>
              </a:rPr>
              <a:t>Conclusion</a:t>
            </a:r>
          </a:p>
        </p:txBody>
      </p:sp>
      <p:sp>
        <p:nvSpPr>
          <p:cNvPr id="5" name="TextBox 4"/>
          <p:cNvSpPr txBox="1"/>
          <p:nvPr/>
        </p:nvSpPr>
        <p:spPr>
          <a:xfrm>
            <a:off x="411480" y="777240"/>
            <a:ext cx="10972800" cy="411480"/>
          </a:xfrm>
          <a:prstGeom prst="rect">
            <a:avLst/>
          </a:prstGeom>
          <a:noFill/>
        </p:spPr>
        <p:txBody>
          <a:bodyPr wrap="square">
            <a:spAutoFit/>
          </a:bodyPr>
          <a:lstStyle/>
          <a:p>
            <a:pPr algn="l"/>
            <a:r>
              <a:rPr sz="1600" b="0" i="1">
                <a:solidFill>
                  <a:srgbClr val="F5EDD8"/>
                </a:solidFill>
                <a:latin typeface="Calibri"/>
              </a:rPr>
              <a:t>Thiruppugazh-KG: bridging classical Tamil literature and computational humanities</a:t>
            </a:r>
          </a:p>
        </p:txBody>
      </p:sp>
      <p:sp>
        <p:nvSpPr>
          <p:cNvPr id="6" name="Rectangle 5"/>
          <p:cNvSpPr/>
          <p:nvPr/>
        </p:nvSpPr>
        <p:spPr>
          <a:xfrm>
            <a:off x="0" y="6565392"/>
            <a:ext cx="12188952"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000" b="0" i="0">
                <a:solidFill>
                  <a:srgbClr val="F5EDD8"/>
                </a:solidFill>
                <a:latin typeface="Calibri"/>
              </a:rPr>
              <a:t>Kumarasamy et al. · Thiruppugazh-KG · ACL 2026</a:t>
            </a:r>
          </a:p>
        </p:txBody>
      </p:sp>
      <p:sp>
        <p:nvSpPr>
          <p:cNvPr id="8" name="Rectangle 7"/>
          <p:cNvSpPr/>
          <p:nvPr/>
        </p:nvSpPr>
        <p:spPr>
          <a:xfrm>
            <a:off x="365760" y="1600200"/>
            <a:ext cx="3657600" cy="20116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709928"/>
            <a:ext cx="3383280" cy="457200"/>
          </a:xfrm>
          <a:prstGeom prst="rect">
            <a:avLst/>
          </a:prstGeom>
          <a:noFill/>
        </p:spPr>
        <p:txBody>
          <a:bodyPr wrap="square">
            <a:spAutoFit/>
          </a:bodyPr>
          <a:lstStyle/>
          <a:p>
            <a:pPr algn="l"/>
            <a:r>
              <a:rPr sz="1500" b="1" i="0">
                <a:solidFill>
                  <a:srgbClr val="C8A951"/>
                </a:solidFill>
                <a:latin typeface="Calibri"/>
              </a:rPr>
              <a:t>First KG Dataset</a:t>
            </a:r>
          </a:p>
        </p:txBody>
      </p:sp>
      <p:sp>
        <p:nvSpPr>
          <p:cNvPr id="10" name="Rectangle 9"/>
          <p:cNvSpPr/>
          <p:nvPr/>
        </p:nvSpPr>
        <p:spPr>
          <a:xfrm>
            <a:off x="475488" y="2130552"/>
            <a:ext cx="3401568"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240280"/>
            <a:ext cx="3383280" cy="1234440"/>
          </a:xfrm>
          <a:prstGeom prst="rect">
            <a:avLst/>
          </a:prstGeom>
          <a:noFill/>
        </p:spPr>
        <p:txBody>
          <a:bodyPr wrap="square">
            <a:spAutoFit/>
          </a:bodyPr>
          <a:lstStyle/>
          <a:p>
            <a:pPr algn="l"/>
            <a:r>
              <a:rPr sz="1200" b="0" i="0">
                <a:solidFill>
                  <a:srgbClr val="FFFFFF"/>
                </a:solidFill>
                <a:latin typeface="Calibri"/>
              </a:rPr>
              <a:t>Thiruppugazh-KG is the first semantically annotated knowledge graph for Tamil devotional literature — 1,335 hymns fully annotated.</a:t>
            </a:r>
          </a:p>
        </p:txBody>
      </p:sp>
      <p:sp>
        <p:nvSpPr>
          <p:cNvPr id="12" name="Rectangle 11"/>
          <p:cNvSpPr/>
          <p:nvPr/>
        </p:nvSpPr>
        <p:spPr>
          <a:xfrm>
            <a:off x="4251960" y="1600200"/>
            <a:ext cx="3657600" cy="201168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709928"/>
            <a:ext cx="3383280" cy="457200"/>
          </a:xfrm>
          <a:prstGeom prst="rect">
            <a:avLst/>
          </a:prstGeom>
          <a:noFill/>
        </p:spPr>
        <p:txBody>
          <a:bodyPr wrap="square">
            <a:spAutoFit/>
          </a:bodyPr>
          <a:lstStyle/>
          <a:p>
            <a:pPr algn="l"/>
            <a:r>
              <a:rPr sz="1500" b="1" i="0">
                <a:solidFill>
                  <a:srgbClr val="C8A951"/>
                </a:solidFill>
                <a:latin typeface="Calibri"/>
              </a:rPr>
              <a:t>Rich Annotation Schema</a:t>
            </a:r>
          </a:p>
        </p:txBody>
      </p:sp>
      <p:sp>
        <p:nvSpPr>
          <p:cNvPr id="14" name="Rectangle 13"/>
          <p:cNvSpPr/>
          <p:nvPr/>
        </p:nvSpPr>
        <p:spPr>
          <a:xfrm>
            <a:off x="4361688" y="2130552"/>
            <a:ext cx="3401568"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0" y="2240280"/>
            <a:ext cx="3383280" cy="1234440"/>
          </a:xfrm>
          <a:prstGeom prst="rect">
            <a:avLst/>
          </a:prstGeom>
          <a:noFill/>
        </p:spPr>
        <p:txBody>
          <a:bodyPr wrap="square">
            <a:spAutoFit/>
          </a:bodyPr>
          <a:lstStyle/>
          <a:p>
            <a:pPr algn="l"/>
            <a:r>
              <a:rPr sz="1200" b="0" i="0">
                <a:solidFill>
                  <a:srgbClr val="FFFFFF"/>
                </a:solidFill>
                <a:latin typeface="Calibri"/>
              </a:rPr>
              <a:t>Six semantic dimensions: Entities, Themes, Mythological Events, Philosophy, Imagery, Sacred Places — 28,228 typed edges.</a:t>
            </a:r>
          </a:p>
        </p:txBody>
      </p:sp>
      <p:sp>
        <p:nvSpPr>
          <p:cNvPr id="16" name="Rectangle 15"/>
          <p:cNvSpPr/>
          <p:nvPr/>
        </p:nvSpPr>
        <p:spPr>
          <a:xfrm>
            <a:off x="8138160" y="1600200"/>
            <a:ext cx="3657600" cy="20116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1709928"/>
            <a:ext cx="3383280" cy="457200"/>
          </a:xfrm>
          <a:prstGeom prst="rect">
            <a:avLst/>
          </a:prstGeom>
          <a:noFill/>
        </p:spPr>
        <p:txBody>
          <a:bodyPr wrap="square">
            <a:spAutoFit/>
          </a:bodyPr>
          <a:lstStyle/>
          <a:p>
            <a:pPr algn="l"/>
            <a:r>
              <a:rPr sz="1500" b="1" i="0">
                <a:solidFill>
                  <a:srgbClr val="C8A951"/>
                </a:solidFill>
                <a:latin typeface="Calibri"/>
              </a:rPr>
              <a:t>Graph Analytics</a:t>
            </a:r>
          </a:p>
        </p:txBody>
      </p:sp>
      <p:sp>
        <p:nvSpPr>
          <p:cNvPr id="18" name="Rectangle 17"/>
          <p:cNvSpPr/>
          <p:nvPr/>
        </p:nvSpPr>
        <p:spPr>
          <a:xfrm>
            <a:off x="8247888" y="2130552"/>
            <a:ext cx="3401568"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2240280"/>
            <a:ext cx="3383280" cy="1234440"/>
          </a:xfrm>
          <a:prstGeom prst="rect">
            <a:avLst/>
          </a:prstGeom>
          <a:noFill/>
        </p:spPr>
        <p:txBody>
          <a:bodyPr wrap="square">
            <a:spAutoFit/>
          </a:bodyPr>
          <a:lstStyle/>
          <a:p>
            <a:pPr algn="l"/>
            <a:r>
              <a:rPr sz="1200" b="0" i="0">
                <a:solidFill>
                  <a:srgbClr val="FFFFFF"/>
                </a:solidFill>
                <a:latin typeface="Calibri"/>
              </a:rPr>
              <a:t>PageRank confirms Murugan's centrality (score = 1.0). Siva and Valli emerge as secondary hubs. 9,758 Louvain communities detected.</a:t>
            </a:r>
          </a:p>
        </p:txBody>
      </p:sp>
      <p:sp>
        <p:nvSpPr>
          <p:cNvPr id="20" name="Rectangle 19"/>
          <p:cNvSpPr/>
          <p:nvPr/>
        </p:nvSpPr>
        <p:spPr>
          <a:xfrm>
            <a:off x="365760" y="3749039"/>
            <a:ext cx="5532120" cy="2011680"/>
          </a:xfrm>
          <a:prstGeom prst="rect">
            <a:avLst/>
          </a:prstGeom>
          <a:solidFill>
            <a:srgbClr val="2B7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858767"/>
            <a:ext cx="5257800" cy="457200"/>
          </a:xfrm>
          <a:prstGeom prst="rect">
            <a:avLst/>
          </a:prstGeom>
          <a:noFill/>
        </p:spPr>
        <p:txBody>
          <a:bodyPr wrap="square">
            <a:spAutoFit/>
          </a:bodyPr>
          <a:lstStyle/>
          <a:p>
            <a:pPr algn="l"/>
            <a:r>
              <a:rPr sz="1500" b="1" i="0">
                <a:solidFill>
                  <a:srgbClr val="C8A951"/>
                </a:solidFill>
                <a:latin typeface="Calibri"/>
              </a:rPr>
              <a:t>Cultural Insights</a:t>
            </a:r>
          </a:p>
        </p:txBody>
      </p:sp>
      <p:sp>
        <p:nvSpPr>
          <p:cNvPr id="22" name="Rectangle 21"/>
          <p:cNvSpPr/>
          <p:nvPr/>
        </p:nvSpPr>
        <p:spPr>
          <a:xfrm>
            <a:off x="475488" y="4279391"/>
            <a:ext cx="5276088"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389119"/>
            <a:ext cx="5257800" cy="1234440"/>
          </a:xfrm>
          <a:prstGeom prst="rect">
            <a:avLst/>
          </a:prstGeom>
          <a:noFill/>
        </p:spPr>
        <p:txBody>
          <a:bodyPr wrap="square">
            <a:spAutoFit/>
          </a:bodyPr>
          <a:lstStyle/>
          <a:p>
            <a:pPr algn="l"/>
            <a:r>
              <a:rPr sz="1200" b="0" i="0">
                <a:solidFill>
                  <a:srgbClr val="FFFFFF"/>
                </a:solidFill>
                <a:latin typeface="Calibri"/>
              </a:rPr>
              <a:t>Pazhani (98) and Thiruchchendhur (83) are the most referenced temples. 'Devotion to Murugan' appears in 969 hymns.</a:t>
            </a:r>
          </a:p>
        </p:txBody>
      </p:sp>
      <p:sp>
        <p:nvSpPr>
          <p:cNvPr id="24" name="Rectangle 23"/>
          <p:cNvSpPr/>
          <p:nvPr/>
        </p:nvSpPr>
        <p:spPr>
          <a:xfrm>
            <a:off x="6172200" y="3749039"/>
            <a:ext cx="5532120" cy="20116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0" y="3858767"/>
            <a:ext cx="5257800" cy="457200"/>
          </a:xfrm>
          <a:prstGeom prst="rect">
            <a:avLst/>
          </a:prstGeom>
          <a:noFill/>
        </p:spPr>
        <p:txBody>
          <a:bodyPr wrap="square">
            <a:spAutoFit/>
          </a:bodyPr>
          <a:lstStyle/>
          <a:p>
            <a:pPr algn="l"/>
            <a:r>
              <a:rPr sz="1500" b="1" i="0">
                <a:solidFill>
                  <a:srgbClr val="C8A951"/>
                </a:solidFill>
                <a:latin typeface="Calibri"/>
              </a:rPr>
              <a:t>Reusable Framework</a:t>
            </a:r>
          </a:p>
        </p:txBody>
      </p:sp>
      <p:sp>
        <p:nvSpPr>
          <p:cNvPr id="26" name="Rectangle 25"/>
          <p:cNvSpPr/>
          <p:nvPr/>
        </p:nvSpPr>
        <p:spPr>
          <a:xfrm>
            <a:off x="6281928" y="4279391"/>
            <a:ext cx="5276088"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9360" y="4389119"/>
            <a:ext cx="5257800" cy="1234440"/>
          </a:xfrm>
          <a:prstGeom prst="rect">
            <a:avLst/>
          </a:prstGeom>
          <a:noFill/>
        </p:spPr>
        <p:txBody>
          <a:bodyPr wrap="square">
            <a:spAutoFit/>
          </a:bodyPr>
          <a:lstStyle/>
          <a:p>
            <a:pPr algn="l"/>
            <a:r>
              <a:rPr sz="1200" b="0" i="0">
                <a:solidFill>
                  <a:srgbClr val="FFFFFF"/>
                </a:solidFill>
                <a:latin typeface="Calibri"/>
              </a:rPr>
              <a:t>Methodology generalizes to other classical texts — advancing NLP for low-resource languages in digital humanities.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93992"/>
            <a:ext cx="12188952" cy="64008"/>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14232" y="365760"/>
            <a:ext cx="3474720" cy="6858000"/>
          </a:xfrm>
          <a:prstGeom prst="rect">
            <a:avLst/>
          </a:prstGeom>
          <a:solidFill>
            <a:srgbClr val="14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714232" y="0"/>
            <a:ext cx="45720"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97280"/>
            <a:ext cx="8046720" cy="1097280"/>
          </a:xfrm>
          <a:prstGeom prst="rect">
            <a:avLst/>
          </a:prstGeom>
          <a:noFill/>
        </p:spPr>
        <p:txBody>
          <a:bodyPr wrap="square">
            <a:spAutoFit/>
          </a:bodyPr>
          <a:lstStyle/>
          <a:p>
            <a:pPr algn="l"/>
            <a:r>
              <a:rPr sz="5400" b="1" i="0">
                <a:solidFill>
                  <a:srgbClr val="FFFFFF"/>
                </a:solidFill>
                <a:latin typeface="Calibri"/>
              </a:rPr>
              <a:t>Thank You</a:t>
            </a:r>
          </a:p>
        </p:txBody>
      </p:sp>
      <p:sp>
        <p:nvSpPr>
          <p:cNvPr id="7" name="TextBox 6"/>
          <p:cNvSpPr txBox="1"/>
          <p:nvPr/>
        </p:nvSpPr>
        <p:spPr>
          <a:xfrm>
            <a:off x="548640" y="2148840"/>
            <a:ext cx="8046720" cy="640080"/>
          </a:xfrm>
          <a:prstGeom prst="rect">
            <a:avLst/>
          </a:prstGeom>
          <a:noFill/>
        </p:spPr>
        <p:txBody>
          <a:bodyPr wrap="square">
            <a:spAutoFit/>
          </a:bodyPr>
          <a:lstStyle/>
          <a:p>
            <a:pPr algn="l"/>
            <a:r>
              <a:rPr sz="2600" b="0" i="1">
                <a:solidFill>
                  <a:srgbClr val="C8A951"/>
                </a:solidFill>
                <a:latin typeface="Calibri"/>
              </a:rPr>
              <a:t>Questions &amp; Discussion</a:t>
            </a:r>
          </a:p>
        </p:txBody>
      </p:sp>
      <p:sp>
        <p:nvSpPr>
          <p:cNvPr id="8" name="Rectangle 7"/>
          <p:cNvSpPr/>
          <p:nvPr/>
        </p:nvSpPr>
        <p:spPr>
          <a:xfrm>
            <a:off x="548640" y="2834640"/>
            <a:ext cx="5029200" cy="4572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017520"/>
            <a:ext cx="8046720" cy="457200"/>
          </a:xfrm>
          <a:prstGeom prst="rect">
            <a:avLst/>
          </a:prstGeom>
          <a:noFill/>
        </p:spPr>
        <p:txBody>
          <a:bodyPr wrap="square">
            <a:spAutoFit/>
          </a:bodyPr>
          <a:lstStyle/>
          <a:p>
            <a:pPr algn="l"/>
            <a:r>
              <a:rPr sz="1800" b="1" i="0">
                <a:solidFill>
                  <a:srgbClr val="FFFFFF"/>
                </a:solidFill>
                <a:latin typeface="Calibri"/>
              </a:rPr>
              <a:t>Garthigan Kumarasamy</a:t>
            </a:r>
          </a:p>
        </p:txBody>
      </p:sp>
      <p:sp>
        <p:nvSpPr>
          <p:cNvPr id="10" name="TextBox 9"/>
          <p:cNvSpPr txBox="1"/>
          <p:nvPr/>
        </p:nvSpPr>
        <p:spPr>
          <a:xfrm>
            <a:off x="548640" y="3429000"/>
            <a:ext cx="8046720" cy="411480"/>
          </a:xfrm>
          <a:prstGeom prst="rect">
            <a:avLst/>
          </a:prstGeom>
          <a:noFill/>
        </p:spPr>
        <p:txBody>
          <a:bodyPr wrap="square">
            <a:spAutoFit/>
          </a:bodyPr>
          <a:lstStyle/>
          <a:p>
            <a:pPr algn="l"/>
            <a:r>
              <a:rPr sz="1500" b="0" i="0">
                <a:solidFill>
                  <a:srgbClr val="F5EDD8"/>
                </a:solidFill>
                <a:latin typeface="Calibri"/>
              </a:rPr>
              <a:t>garthigank.25@cse.mrt.ac.lk</a:t>
            </a:r>
          </a:p>
        </p:txBody>
      </p:sp>
      <p:sp>
        <p:nvSpPr>
          <p:cNvPr id="11" name="TextBox 10"/>
          <p:cNvSpPr txBox="1"/>
          <p:nvPr/>
        </p:nvSpPr>
        <p:spPr>
          <a:xfrm>
            <a:off x="548640" y="3794760"/>
            <a:ext cx="8046720" cy="685800"/>
          </a:xfrm>
          <a:prstGeom prst="rect">
            <a:avLst/>
          </a:prstGeom>
          <a:noFill/>
        </p:spPr>
        <p:txBody>
          <a:bodyPr wrap="square">
            <a:spAutoFit/>
          </a:bodyPr>
          <a:lstStyle/>
          <a:p>
            <a:pPr algn="l"/>
            <a:r>
              <a:rPr sz="1400" b="0" i="1">
                <a:solidFill>
                  <a:srgbClr val="6B7B9A"/>
                </a:solidFill>
                <a:latin typeface="Calibri"/>
              </a:rPr>
              <a:t>Department of Computer Science and Engineering
University of Moratuwa, Sri Lanka</a:t>
            </a:r>
          </a:p>
        </p:txBody>
      </p:sp>
      <p:sp>
        <p:nvSpPr>
          <p:cNvPr id="12" name="Rectangle 11"/>
          <p:cNvSpPr/>
          <p:nvPr/>
        </p:nvSpPr>
        <p:spPr>
          <a:xfrm>
            <a:off x="548640" y="4663440"/>
            <a:ext cx="4937760" cy="5486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718304"/>
            <a:ext cx="4754880" cy="457200"/>
          </a:xfrm>
          <a:prstGeom prst="rect">
            <a:avLst/>
          </a:prstGeom>
          <a:noFill/>
        </p:spPr>
        <p:txBody>
          <a:bodyPr wrap="square">
            <a:spAutoFit/>
          </a:bodyPr>
          <a:lstStyle/>
          <a:p>
            <a:pPr algn="ctr"/>
            <a:r>
              <a:rPr sz="1300" b="1" i="0">
                <a:solidFill>
                  <a:srgbClr val="1B2A4A"/>
                </a:solidFill>
                <a:latin typeface="Calibri"/>
              </a:rPr>
              <a:t>Dataset: github.com/Garthigan/Thiruppugazh-KG-Dataset</a:t>
            </a:r>
          </a:p>
        </p:txBody>
      </p:sp>
      <p:sp>
        <p:nvSpPr>
          <p:cNvPr id="14" name="Rectangle 13"/>
          <p:cNvSpPr/>
          <p:nvPr/>
        </p:nvSpPr>
        <p:spPr>
          <a:xfrm>
            <a:off x="548640" y="5349240"/>
            <a:ext cx="2286000" cy="502920"/>
          </a:xfrm>
          <a:prstGeom prst="rect">
            <a:avLst/>
          </a:prstGeom>
          <a:solidFill>
            <a:srgbClr val="14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5394960"/>
            <a:ext cx="2194560" cy="411480"/>
          </a:xfrm>
          <a:prstGeom prst="rect">
            <a:avLst/>
          </a:prstGeom>
          <a:noFill/>
        </p:spPr>
        <p:txBody>
          <a:bodyPr wrap="square">
            <a:spAutoFit/>
          </a:bodyPr>
          <a:lstStyle/>
          <a:p>
            <a:pPr algn="ctr"/>
            <a:r>
              <a:rPr sz="1400" b="1" i="0">
                <a:solidFill>
                  <a:srgbClr val="C8A951"/>
                </a:solidFill>
                <a:latin typeface="Calibri"/>
              </a:rPr>
              <a:t>ACL 2026 Workshop</a:t>
            </a:r>
          </a:p>
        </p:txBody>
      </p:sp>
      <p:sp>
        <p:nvSpPr>
          <p:cNvPr id="16" name="TextBox 15"/>
          <p:cNvSpPr txBox="1"/>
          <p:nvPr/>
        </p:nvSpPr>
        <p:spPr>
          <a:xfrm>
            <a:off x="8970264" y="2075682"/>
            <a:ext cx="2926080" cy="630942"/>
          </a:xfrm>
          <a:prstGeom prst="rect">
            <a:avLst/>
          </a:prstGeom>
          <a:noFill/>
        </p:spPr>
        <p:txBody>
          <a:bodyPr wrap="square">
            <a:spAutoFit/>
          </a:bodyPr>
          <a:lstStyle/>
          <a:p>
            <a:pPr algn="ctr"/>
            <a:r>
              <a:rPr lang="en-US" sz="3500" b="1" dirty="0" err="1">
                <a:solidFill>
                  <a:srgbClr val="C8A951"/>
                </a:solidFill>
                <a:latin typeface="NC Thavagi" pitchFamily="2" charset="0"/>
              </a:rPr>
              <a:t>jpUg;Gfo</a:t>
            </a:r>
            <a:r>
              <a:rPr lang="en-US" sz="3500" b="1" dirty="0">
                <a:solidFill>
                  <a:srgbClr val="C8A951"/>
                </a:solidFill>
                <a:latin typeface="NC Thavagi" pitchFamily="2" charset="0"/>
              </a:rPr>
              <a:t>;</a:t>
            </a:r>
            <a:endParaRPr sz="3500" b="1" i="0" dirty="0">
              <a:solidFill>
                <a:srgbClr val="C8A951"/>
              </a:solidFill>
              <a:latin typeface="Calibri"/>
            </a:endParaRPr>
          </a:p>
        </p:txBody>
      </p:sp>
      <p:sp>
        <p:nvSpPr>
          <p:cNvPr id="17" name="TextBox 16"/>
          <p:cNvSpPr txBox="1"/>
          <p:nvPr/>
        </p:nvSpPr>
        <p:spPr>
          <a:xfrm>
            <a:off x="8988552" y="2788920"/>
            <a:ext cx="2926080" cy="457200"/>
          </a:xfrm>
          <a:prstGeom prst="rect">
            <a:avLst/>
          </a:prstGeom>
          <a:noFill/>
        </p:spPr>
        <p:txBody>
          <a:bodyPr wrap="square">
            <a:spAutoFit/>
          </a:bodyPr>
          <a:lstStyle/>
          <a:p>
            <a:pPr algn="ctr"/>
            <a:r>
              <a:rPr sz="1600" b="1" i="0">
                <a:solidFill>
                  <a:srgbClr val="FFFFFF"/>
                </a:solidFill>
                <a:latin typeface="Calibri"/>
              </a:rPr>
              <a:t>Thiruppugazh-KG</a:t>
            </a:r>
          </a:p>
        </p:txBody>
      </p:sp>
      <p:sp>
        <p:nvSpPr>
          <p:cNvPr id="18" name="Rectangle 17"/>
          <p:cNvSpPr/>
          <p:nvPr/>
        </p:nvSpPr>
        <p:spPr>
          <a:xfrm>
            <a:off x="9445752" y="3291840"/>
            <a:ext cx="1920240"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88552" y="3429000"/>
            <a:ext cx="2926080" cy="822960"/>
          </a:xfrm>
          <a:prstGeom prst="rect">
            <a:avLst/>
          </a:prstGeom>
          <a:noFill/>
        </p:spPr>
        <p:txBody>
          <a:bodyPr wrap="square">
            <a:spAutoFit/>
          </a:bodyPr>
          <a:lstStyle/>
          <a:p>
            <a:pPr algn="ctr"/>
            <a:r>
              <a:rPr sz="1300" b="0" i="0">
                <a:solidFill>
                  <a:srgbClr val="F5EDD8"/>
                </a:solidFill>
                <a:latin typeface="Calibri"/>
              </a:rPr>
              <a:t>1,335 hymns · 11,992 nodes
28,228 edges · 9,758 communities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574</TotalTime>
  <Words>1426</Words>
  <Application>Microsoft Macintosh PowerPoint</Application>
  <PresentationFormat>Custom</PresentationFormat>
  <Paragraphs>254</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NC Thavagi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Garthigan Kumarasamy</cp:lastModifiedBy>
  <cp:revision>3</cp:revision>
  <dcterms:created xsi:type="dcterms:W3CDTF">2013-01-27T09:14:16Z</dcterms:created>
  <dcterms:modified xsi:type="dcterms:W3CDTF">2026-06-10T14:24:58Z</dcterms:modified>
  <cp:category/>
</cp:coreProperties>
</file>